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Instrument Sans"/>
      <p:regular r:id="rId201314"/>
    </p:embeddedFont>
    <p:embeddedFont>
      <p:font typeface="Instrument Sans Medium"/>
      <p:regular r:id="rId201315"/>
    </p:embeddedFont>
    <p:embeddedFont>
      <p:font typeface="Instrument Sans SemiBold"/>
      <p:regular r:id="rId201316"/>
    </p:embeddedFont>
    <p:embeddedFont>
      <p:font typeface="Instrument Sans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A1A1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image" Target="../media/image-2-8.png"/><Relationship Id="rId9" Type="http://schemas.openxmlformats.org/officeDocument/2006/relationships/image" Target="../media/image-2-9.sv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4.png"/><Relationship Id="rId5" Type="http://schemas.openxmlformats.org/officeDocument/2006/relationships/image" Target="../media/image-6-5.svg"/><Relationship Id="rId6" Type="http://schemas.openxmlformats.org/officeDocument/2006/relationships/image" Target="../media/image-6-6.png"/><Relationship Id="rId7" Type="http://schemas.openxmlformats.org/officeDocument/2006/relationships/image" Target="../media/image-6-7.sv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4.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image" Target="../media/image-9-1.png"/><Relationship Id="rId8" Type="http://schemas.openxmlformats.org/officeDocument/2006/relationships/image" Target="../media/image-9-2.svg"/><Relationship Id="rId9" Type="http://schemas.openxmlformats.org/officeDocument/2006/relationships/image" Target="../media/image-9-1.png"/><Relationship Id="rId10" Type="http://schemas.openxmlformats.org/officeDocument/2006/relationships/image" Target="../media/image-9-2.svg"/><Relationship Id="rId11" Type="http://schemas.openxmlformats.org/officeDocument/2006/relationships/image" Target="../media/image-9-1.png"/><Relationship Id="rId12" Type="http://schemas.openxmlformats.org/officeDocument/2006/relationships/image" Target="../media/image-9-2.svg"/><Relationship Id="rId13" Type="http://schemas.openxmlformats.org/officeDocument/2006/relationships/image" Target="../media/image-9-1.png"/><Relationship Id="rId14" Type="http://schemas.openxmlformats.org/officeDocument/2006/relationships/image" Target="../media/image-9-2.svg"/><Relationship Id="rId15" Type="http://schemas.openxmlformats.org/officeDocument/2006/relationships/image" Target="../media/image-9-1.png"/><Relationship Id="rId16" Type="http://schemas.openxmlformats.org/officeDocument/2006/relationships/image" Target="../media/image-9-2.svg"/><Relationship Id="rId17" Type="http://schemas.openxmlformats.org/officeDocument/2006/relationships/slideLayout" Target="../slideLayouts/slideLayout2.xml"/><Relationship Id="rId1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Shape 0"/>
          <p:cNvSpPr/>
          <p:nvPr/>
        </p:nvSpPr>
        <p:spPr>
          <a:xfrm>
            <a:off x="5233360" y="570706"/>
            <a:ext cx="2184841" cy="287139"/>
          </a:xfrm>
          <a:prstGeom prst="roundRect">
            <a:avLst>
              <a:gd name="adj" fmla="val 22118"/>
            </a:avLst>
          </a:prstGeom>
          <a:solidFill>
            <a:srgbClr val="333A33"/>
          </a:solidFill>
          <a:ln/>
        </p:spPr>
      </p:sp>
      <p:sp>
        <p:nvSpPr>
          <p:cNvPr id="4" name="Text 1"/>
          <p:cNvSpPr/>
          <p:nvPr/>
        </p:nvSpPr>
        <p:spPr>
          <a:xfrm>
            <a:off x="5346765" y="627360"/>
            <a:ext cx="2567618" cy="173831"/>
          </a:xfrm>
          <a:prstGeom prst="rect">
            <a:avLst/>
          </a:prstGeom>
          <a:noFill/>
          <a:ln/>
        </p:spPr>
        <p:txBody>
          <a:bodyPr wrap="none" lIns="0" tIns="0" rIns="0" bIns="0" rtlCol="0" anchor="t"/>
          <a:lstStyle/>
          <a:p>
            <a:pPr algn="l" indent="0" marL="0">
              <a:lnSpc>
                <a:spcPct val="96000"/>
              </a:lnSpc>
              <a:buNone/>
            </a:pPr>
            <a:r>
              <a:rPr lang="en-US" sz="1150" dirty="0">
                <a:solidFill>
                  <a:srgbClr val="FFFFFF"/>
                </a:solidFill>
                <a:latin typeface="Instrument Sans" pitchFamily="34" charset="0"/>
                <a:ea typeface="Instrument Sans" pitchFamily="34" charset="-122"/>
                <a:cs typeface="Instrument Sans" pitchFamily="34" charset="-120"/>
              </a:rPr>
              <a:t>DATA ANALYTICS PROJECT</a:t>
            </a:r>
            <a:endParaRPr lang="en-US" sz="1150" dirty="0"/>
          </a:p>
        </p:txBody>
      </p:sp>
      <p:sp>
        <p:nvSpPr>
          <p:cNvPr id="5" name="Text 2"/>
          <p:cNvSpPr/>
          <p:nvPr/>
        </p:nvSpPr>
        <p:spPr>
          <a:xfrm>
            <a:off x="5233360" y="933450"/>
            <a:ext cx="6296860" cy="1304330"/>
          </a:xfrm>
          <a:prstGeom prst="rect">
            <a:avLst/>
          </a:prstGeom>
          <a:noFill/>
          <a:ln/>
        </p:spPr>
        <p:txBody>
          <a:bodyPr wrap="square" lIns="0" tIns="0" rIns="0" bIns="0" rtlCol="0" anchor="t">
            <a:normAutofit/>
          </a:bodyPr>
          <a:lstStyle/>
          <a:p>
            <a:pPr algn="l" indent="0" marL="0">
              <a:lnSpc>
                <a:spcPct val="83000"/>
              </a:lnSpc>
              <a:buNone/>
            </a:pPr>
            <a:r>
              <a:rPr lang="en-US" sz="5100" dirty="0">
                <a:solidFill>
                  <a:srgbClr val="FFFFFF"/>
                </a:solidFill>
                <a:latin typeface="Instrument Sans SemiBold" pitchFamily="34" charset="0"/>
                <a:ea typeface="Instrument Sans SemiBold" pitchFamily="34" charset="-122"/>
                <a:cs typeface="Instrument Sans SemiBold" pitchFamily="34" charset="-120"/>
              </a:rPr>
              <a:t>Customer Shopping Behavior Analysis</a:t>
            </a:r>
            <a:endParaRPr lang="en-US" sz="5100" dirty="0"/>
          </a:p>
        </p:txBody>
      </p:sp>
      <p:sp>
        <p:nvSpPr>
          <p:cNvPr id="6" name="Text 3"/>
          <p:cNvSpPr/>
          <p:nvPr/>
        </p:nvSpPr>
        <p:spPr>
          <a:xfrm>
            <a:off x="5233360" y="2521248"/>
            <a:ext cx="6296860" cy="567134"/>
          </a:xfrm>
          <a:prstGeom prst="rect">
            <a:avLst/>
          </a:prstGeom>
          <a:noFill/>
          <a:ln/>
        </p:spPr>
        <p:txBody>
          <a:bodyPr wrap="square" lIns="0" tIns="0" rIns="0" bIns="0" rtlCol="0" anchor="t">
            <a:normAutofit/>
          </a:bodyPr>
          <a:lstStyle/>
          <a:p>
            <a:pPr algn="l" indent="0" marL="0">
              <a:lnSpc>
                <a:spcPct val="83000"/>
              </a:lnSpc>
              <a:buNone/>
            </a:pPr>
            <a:r>
              <a:rPr lang="en-US" sz="2200" dirty="0">
                <a:solidFill>
                  <a:srgbClr val="FFFFFF"/>
                </a:solidFill>
                <a:latin typeface="Instrument Sans SemiBold" pitchFamily="34" charset="0"/>
                <a:ea typeface="Instrument Sans SemiBold" pitchFamily="34" charset="-122"/>
                <a:cs typeface="Instrument Sans SemiBold" pitchFamily="34" charset="-120"/>
              </a:rPr>
              <a:t>Analyzing Customer Purchasing Patterns Using Python, SQL, and Power BI</a:t>
            </a:r>
            <a:endParaRPr lang="en-US" sz="2200" dirty="0"/>
          </a:p>
        </p:txBody>
      </p:sp>
      <p:sp>
        <p:nvSpPr>
          <p:cNvPr id="7" name="Text 4"/>
          <p:cNvSpPr/>
          <p:nvPr/>
        </p:nvSpPr>
        <p:spPr>
          <a:xfrm>
            <a:off x="5233360" y="3371850"/>
            <a:ext cx="6296860" cy="2915444"/>
          </a:xfrm>
          <a:prstGeom prst="rect">
            <a:avLst/>
          </a:prstGeom>
          <a:noFill/>
          <a:ln/>
        </p:spPr>
        <p:txBody>
          <a:bodyPr wrap="square" lIns="0" tIns="0" rIns="0" bIns="0" rtlCol="0" anchor="t"/>
          <a:lstStyle/>
          <a:p>
            <a:pPr algn="l" indent="0" marL="0">
              <a:lnSpc>
                <a:spcPct val="117000"/>
              </a:lnSpc>
              <a:spcAft>
                <a:spcPts val="3750"/>
              </a:spcAft>
              <a:buNone/>
            </a:pPr>
            <a:endParaRPr lang="en-US" sz="1450" dirty="0"/>
          </a:p>
          <a:p>
            <a:pPr algn="l" indent="0" marL="0">
              <a:lnSpc>
                <a:spcPct val="117000"/>
              </a:lnSpc>
              <a:spcAft>
                <a:spcPts val="3750"/>
              </a:spcAft>
              <a:buNone/>
            </a:pPr>
            <a:endParaRPr lang="en-US" sz="1450" dirty="0"/>
          </a:p>
          <a:p>
            <a:pPr algn="l" indent="0" marL="0">
              <a:lnSpc>
                <a:spcPct val="117000"/>
              </a:lnSpc>
              <a:spcAft>
                <a:spcPts val="3750"/>
              </a:spcAft>
              <a:buNone/>
            </a:pPr>
            <a:endParaRPr lang="en-US" sz="1450" dirty="0"/>
          </a:p>
          <a:p>
            <a:pPr algn="l" indent="0" marL="0">
              <a:lnSpc>
                <a:spcPct val="117000"/>
              </a:lnSpc>
              <a:spcAft>
                <a:spcPts val="3750"/>
              </a:spcAft>
              <a:buNone/>
            </a:pPr>
            <a:endParaRPr lang="en-US" sz="1450" dirty="0"/>
          </a:p>
          <a:p>
            <a:pPr algn="l" indent="0" marL="0">
              <a:lnSpc>
                <a:spcPct val="117000"/>
              </a:lnSpc>
              <a:spcAft>
                <a:spcPts val="3750"/>
              </a:spcAft>
              <a:buNone/>
            </a:pPr>
            <a:endParaRPr lang="en-US" sz="1450" dirty="0"/>
          </a:p>
          <a:p>
            <a:pPr algn="l" indent="0" marL="0">
              <a:lnSpc>
                <a:spcPct val="117000"/>
              </a:lnSpc>
              <a:buNone/>
            </a:pPr>
            <a:r>
              <a:rPr lang="en-US" sz="1450" dirty="0">
                <a:solidFill>
                  <a:srgbClr val="E5E0DF"/>
                </a:solidFill>
                <a:latin typeface="Instrument Sans" pitchFamily="34" charset="0"/>
                <a:ea typeface="Instrument Sans" pitchFamily="34" charset="-122"/>
                <a:cs typeface="Instrument Sans" pitchFamily="34" charset="-120"/>
              </a:rPr>
              <a:t>                                                                                                                      Prepared By: Abhijit Roy</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2126456"/>
          </a:xfrm>
          <a:prstGeom prst="rect">
            <a:avLst/>
          </a:prstGeom>
        </p:spPr>
      </p:pic>
      <p:sp>
        <p:nvSpPr>
          <p:cNvPr id="3" name="Text 0"/>
          <p:cNvSpPr/>
          <p:nvPr/>
        </p:nvSpPr>
        <p:spPr>
          <a:xfrm>
            <a:off x="661475" y="2745978"/>
            <a:ext cx="10868745" cy="425351"/>
          </a:xfrm>
          <a:prstGeom prst="rect">
            <a:avLst/>
          </a:prstGeom>
          <a:noFill/>
          <a:ln/>
        </p:spPr>
        <p:txBody>
          <a:bodyPr wrap="none" lIns="0" tIns="0" rIns="0" bIns="0" rtlCol="0" anchor="t"/>
          <a:lstStyle/>
          <a:p>
            <a:pPr algn="l" indent="0" marL="0">
              <a:lnSpc>
                <a:spcPct val="83000"/>
              </a:lnSpc>
              <a:buNone/>
            </a:pPr>
            <a:r>
              <a:rPr lang="en-US" sz="3300" dirty="0">
                <a:solidFill>
                  <a:srgbClr val="FFFFFF"/>
                </a:solidFill>
                <a:latin typeface="Instrument Sans SemiBold" pitchFamily="34" charset="0"/>
                <a:ea typeface="Instrument Sans SemiBold" pitchFamily="34" charset="-122"/>
                <a:cs typeface="Instrument Sans SemiBold" pitchFamily="34" charset="-120"/>
              </a:rPr>
              <a:t>Project Overview</a:t>
            </a:r>
            <a:endParaRPr lang="en-US" sz="3300" dirty="0"/>
          </a:p>
        </p:txBody>
      </p:sp>
      <p:sp>
        <p:nvSpPr>
          <p:cNvPr id="4" name="Text 1"/>
          <p:cNvSpPr/>
          <p:nvPr/>
        </p:nvSpPr>
        <p:spPr>
          <a:xfrm>
            <a:off x="661475" y="3400921"/>
            <a:ext cx="10868745" cy="452438"/>
          </a:xfrm>
          <a:prstGeom prst="rect">
            <a:avLst/>
          </a:prstGeom>
          <a:noFill/>
          <a:ln/>
        </p:spPr>
        <p:txBody>
          <a:bodyPr wrap="square" lIns="0" tIns="0" rIns="0" bIns="0" rtlCol="0" anchor="t">
            <a:normAutofit/>
          </a:bodyPr>
          <a:lstStyle/>
          <a:p>
            <a:pPr algn="l" indent="0" marL="0">
              <a:lnSpc>
                <a:spcPct val="111000"/>
              </a:lnSpc>
              <a:buNone/>
            </a:pPr>
            <a:r>
              <a:rPr lang="en-US" sz="1300" dirty="0">
                <a:solidFill>
                  <a:srgbClr val="E5E0DF"/>
                </a:solidFill>
                <a:latin typeface="Instrument Sans" pitchFamily="34" charset="0"/>
                <a:ea typeface="Instrument Sans" pitchFamily="34" charset="-122"/>
                <a:cs typeface="Instrument Sans" pitchFamily="34" charset="-120"/>
              </a:rPr>
              <a:t>Customer shopping behavior analysis is the process of studying customer purchasing habits to understand how people make buying decisions. Businesses use this information to improve customer satisfaction, increase sales, and create targeted marketing strategies.</a:t>
            </a:r>
            <a:endParaRPr lang="en-US" sz="1300" dirty="0"/>
          </a:p>
        </p:txBody>
      </p:sp>
      <p:sp>
        <p:nvSpPr>
          <p:cNvPr id="5" name="Shape 2"/>
          <p:cNvSpPr/>
          <p:nvPr/>
        </p:nvSpPr>
        <p:spPr>
          <a:xfrm>
            <a:off x="661475" y="4025602"/>
            <a:ext cx="2602343" cy="2212777"/>
          </a:xfrm>
          <a:prstGeom prst="roundRect">
            <a:avLst>
              <a:gd name="adj" fmla="val 3229"/>
            </a:avLst>
          </a:prstGeom>
          <a:solidFill>
            <a:srgbClr val="32CD32"/>
          </a:solidFill>
          <a:ln/>
        </p:spPr>
      </p:sp>
      <p:sp>
        <p:nvSpPr>
          <p:cNvPr id="6" name="Shape 3"/>
          <p:cNvSpPr/>
          <p:nvPr/>
        </p:nvSpPr>
        <p:spPr>
          <a:xfrm>
            <a:off x="831532" y="4195663"/>
            <a:ext cx="510269" cy="510282"/>
          </a:xfrm>
          <a:prstGeom prst="ellipse">
            <a:avLst/>
          </a:prstGeom>
          <a:solidFill>
            <a:srgbClr val="32CD32"/>
          </a:solidFill>
          <a:ln/>
        </p:spPr>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1823" y="4335959"/>
            <a:ext cx="229586" cy="229592"/>
          </a:xfrm>
          <a:prstGeom prst="rect">
            <a:avLst/>
          </a:prstGeom>
        </p:spPr>
      </p:pic>
      <p:sp>
        <p:nvSpPr>
          <p:cNvPr id="8" name="Text 4"/>
          <p:cNvSpPr/>
          <p:nvPr/>
        </p:nvSpPr>
        <p:spPr>
          <a:xfrm>
            <a:off x="831532" y="4859040"/>
            <a:ext cx="2262230" cy="212626"/>
          </a:xfrm>
          <a:prstGeom prst="rect">
            <a:avLst/>
          </a:prstGeom>
          <a:noFill/>
          <a:ln/>
        </p:spPr>
        <p:txBody>
          <a:bodyPr wrap="none" lIns="0" tIns="0" rIns="0" bIns="0" rtlCol="0" anchor="t"/>
          <a:lstStyle/>
          <a:p>
            <a:pPr algn="l" indent="0" marL="0">
              <a:lnSpc>
                <a:spcPct val="83000"/>
              </a:lnSpc>
              <a:buNone/>
            </a:pPr>
            <a:r>
              <a:rPr lang="en-US" sz="1650" dirty="0">
                <a:solidFill>
                  <a:srgbClr val="000000"/>
                </a:solidFill>
                <a:latin typeface="Instrument Sans SemiBold" pitchFamily="34" charset="0"/>
                <a:ea typeface="Instrument Sans SemiBold" pitchFamily="34" charset="-122"/>
                <a:cs typeface="Instrument Sans SemiBold" pitchFamily="34" charset="-120"/>
              </a:rPr>
              <a:t>Purchasing Trends</a:t>
            </a:r>
            <a:endParaRPr lang="en-US" sz="1650" dirty="0"/>
          </a:p>
        </p:txBody>
      </p:sp>
      <p:sp>
        <p:nvSpPr>
          <p:cNvPr id="9" name="Text 5"/>
          <p:cNvSpPr/>
          <p:nvPr/>
        </p:nvSpPr>
        <p:spPr>
          <a:xfrm>
            <a:off x="831532" y="5163443"/>
            <a:ext cx="2262230" cy="904875"/>
          </a:xfrm>
          <a:prstGeom prst="rect">
            <a:avLst/>
          </a:prstGeom>
          <a:noFill/>
          <a:ln/>
        </p:spPr>
        <p:txBody>
          <a:bodyPr wrap="square" lIns="0" tIns="0" rIns="0" bIns="0" rtlCol="0" anchor="t">
            <a:normAutofit/>
          </a:bodyPr>
          <a:lstStyle/>
          <a:p>
            <a:pPr algn="l" indent="0" marL="0">
              <a:lnSpc>
                <a:spcPct val="111000"/>
              </a:lnSpc>
              <a:buNone/>
            </a:pPr>
            <a:r>
              <a:rPr lang="en-US" sz="1300" dirty="0">
                <a:solidFill>
                  <a:srgbClr val="000000"/>
                </a:solidFill>
                <a:latin typeface="Instrument Sans" pitchFamily="34" charset="0"/>
                <a:ea typeface="Instrument Sans" pitchFamily="34" charset="-122"/>
                <a:cs typeface="Instrument Sans" pitchFamily="34" charset="-120"/>
              </a:rPr>
              <a:t>Identify patterns in buying behavior based on customer demographics and product categories.</a:t>
            </a:r>
            <a:endParaRPr lang="en-US" sz="1300" dirty="0"/>
          </a:p>
        </p:txBody>
      </p:sp>
      <p:sp>
        <p:nvSpPr>
          <p:cNvPr id="10" name="Shape 6"/>
          <p:cNvSpPr/>
          <p:nvPr/>
        </p:nvSpPr>
        <p:spPr>
          <a:xfrm>
            <a:off x="3416909" y="4025602"/>
            <a:ext cx="2602343" cy="2212777"/>
          </a:xfrm>
          <a:prstGeom prst="roundRect">
            <a:avLst>
              <a:gd name="adj" fmla="val 3229"/>
            </a:avLst>
          </a:prstGeom>
          <a:solidFill>
            <a:srgbClr val="32CD32"/>
          </a:solidFill>
          <a:ln/>
        </p:spPr>
      </p:sp>
      <p:sp>
        <p:nvSpPr>
          <p:cNvPr id="11" name="Shape 7"/>
          <p:cNvSpPr/>
          <p:nvPr/>
        </p:nvSpPr>
        <p:spPr>
          <a:xfrm>
            <a:off x="3586966" y="4195663"/>
            <a:ext cx="510269" cy="510282"/>
          </a:xfrm>
          <a:prstGeom prst="ellipse">
            <a:avLst/>
          </a:prstGeom>
          <a:solidFill>
            <a:srgbClr val="32CD32"/>
          </a:solidFill>
          <a:ln/>
        </p:spPr>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27258" y="4335959"/>
            <a:ext cx="229586" cy="229592"/>
          </a:xfrm>
          <a:prstGeom prst="rect">
            <a:avLst/>
          </a:prstGeom>
        </p:spPr>
      </p:pic>
      <p:sp>
        <p:nvSpPr>
          <p:cNvPr id="13" name="Text 8"/>
          <p:cNvSpPr/>
          <p:nvPr/>
        </p:nvSpPr>
        <p:spPr>
          <a:xfrm>
            <a:off x="3586966" y="4859040"/>
            <a:ext cx="2262230" cy="212626"/>
          </a:xfrm>
          <a:prstGeom prst="rect">
            <a:avLst/>
          </a:prstGeom>
          <a:noFill/>
          <a:ln/>
        </p:spPr>
        <p:txBody>
          <a:bodyPr wrap="none" lIns="0" tIns="0" rIns="0" bIns="0" rtlCol="0" anchor="t"/>
          <a:lstStyle/>
          <a:p>
            <a:pPr algn="l" indent="0" marL="0">
              <a:lnSpc>
                <a:spcPct val="83000"/>
              </a:lnSpc>
              <a:buNone/>
            </a:pPr>
            <a:r>
              <a:rPr lang="en-US" sz="1650" dirty="0">
                <a:solidFill>
                  <a:srgbClr val="000000"/>
                </a:solidFill>
                <a:latin typeface="Instrument Sans SemiBold" pitchFamily="34" charset="0"/>
                <a:ea typeface="Instrument Sans SemiBold" pitchFamily="34" charset="-122"/>
                <a:cs typeface="Instrument Sans SemiBold" pitchFamily="34" charset="-120"/>
              </a:rPr>
              <a:t>Payment Methods</a:t>
            </a:r>
            <a:endParaRPr lang="en-US" sz="1650" dirty="0"/>
          </a:p>
        </p:txBody>
      </p:sp>
      <p:sp>
        <p:nvSpPr>
          <p:cNvPr id="14" name="Text 9"/>
          <p:cNvSpPr/>
          <p:nvPr/>
        </p:nvSpPr>
        <p:spPr>
          <a:xfrm>
            <a:off x="3586966" y="5163443"/>
            <a:ext cx="2262230" cy="904875"/>
          </a:xfrm>
          <a:prstGeom prst="rect">
            <a:avLst/>
          </a:prstGeom>
          <a:noFill/>
          <a:ln/>
        </p:spPr>
        <p:txBody>
          <a:bodyPr wrap="square" lIns="0" tIns="0" rIns="0" bIns="0" rtlCol="0" anchor="t">
            <a:normAutofit/>
          </a:bodyPr>
          <a:lstStyle/>
          <a:p>
            <a:pPr algn="l" indent="0" marL="0">
              <a:lnSpc>
                <a:spcPct val="111000"/>
              </a:lnSpc>
              <a:buNone/>
            </a:pPr>
            <a:r>
              <a:rPr lang="en-US" sz="1300" dirty="0">
                <a:solidFill>
                  <a:srgbClr val="000000"/>
                </a:solidFill>
                <a:latin typeface="Instrument Sans" pitchFamily="34" charset="0"/>
                <a:ea typeface="Instrument Sans" pitchFamily="34" charset="-122"/>
                <a:cs typeface="Instrument Sans" pitchFamily="34" charset="-120"/>
              </a:rPr>
              <a:t>Study how customers pay and identify the most preferred payment channels across segments.</a:t>
            </a:r>
            <a:endParaRPr lang="en-US" sz="1300" dirty="0"/>
          </a:p>
        </p:txBody>
      </p:sp>
      <p:sp>
        <p:nvSpPr>
          <p:cNvPr id="15" name="Shape 10"/>
          <p:cNvSpPr/>
          <p:nvPr/>
        </p:nvSpPr>
        <p:spPr>
          <a:xfrm>
            <a:off x="6172343" y="4025602"/>
            <a:ext cx="2602343" cy="2212777"/>
          </a:xfrm>
          <a:prstGeom prst="roundRect">
            <a:avLst>
              <a:gd name="adj" fmla="val 3229"/>
            </a:avLst>
          </a:prstGeom>
          <a:solidFill>
            <a:srgbClr val="32CD32"/>
          </a:solidFill>
          <a:ln/>
        </p:spPr>
      </p:sp>
      <p:sp>
        <p:nvSpPr>
          <p:cNvPr id="16" name="Shape 11"/>
          <p:cNvSpPr/>
          <p:nvPr/>
        </p:nvSpPr>
        <p:spPr>
          <a:xfrm>
            <a:off x="6342400" y="4195663"/>
            <a:ext cx="510269" cy="510282"/>
          </a:xfrm>
          <a:prstGeom prst="ellipse">
            <a:avLst/>
          </a:prstGeom>
          <a:solidFill>
            <a:srgbClr val="32CD32"/>
          </a:solidFill>
          <a:ln/>
        </p:spPr>
      </p:sp>
      <p:pic>
        <p:nvPicPr>
          <p:cNvPr id="1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82692" y="4335959"/>
            <a:ext cx="229586" cy="229592"/>
          </a:xfrm>
          <a:prstGeom prst="rect">
            <a:avLst/>
          </a:prstGeom>
        </p:spPr>
      </p:pic>
      <p:sp>
        <p:nvSpPr>
          <p:cNvPr id="18" name="Text 12"/>
          <p:cNvSpPr/>
          <p:nvPr/>
        </p:nvSpPr>
        <p:spPr>
          <a:xfrm>
            <a:off x="6342400" y="4859040"/>
            <a:ext cx="2262230" cy="212626"/>
          </a:xfrm>
          <a:prstGeom prst="rect">
            <a:avLst/>
          </a:prstGeom>
          <a:noFill/>
          <a:ln/>
        </p:spPr>
        <p:txBody>
          <a:bodyPr wrap="none" lIns="0" tIns="0" rIns="0" bIns="0" rtlCol="0" anchor="t"/>
          <a:lstStyle/>
          <a:p>
            <a:pPr algn="l" indent="0" marL="0">
              <a:lnSpc>
                <a:spcPct val="83000"/>
              </a:lnSpc>
              <a:buNone/>
            </a:pPr>
            <a:r>
              <a:rPr lang="en-US" sz="1650" dirty="0">
                <a:solidFill>
                  <a:srgbClr val="000000"/>
                </a:solidFill>
                <a:latin typeface="Instrument Sans SemiBold" pitchFamily="34" charset="0"/>
                <a:ea typeface="Instrument Sans SemiBold" pitchFamily="34" charset="-122"/>
                <a:cs typeface="Instrument Sans SemiBold" pitchFamily="34" charset="-120"/>
              </a:rPr>
              <a:t>Shopping Frequency</a:t>
            </a:r>
            <a:endParaRPr lang="en-US" sz="1650" dirty="0"/>
          </a:p>
        </p:txBody>
      </p:sp>
      <p:sp>
        <p:nvSpPr>
          <p:cNvPr id="19" name="Text 13"/>
          <p:cNvSpPr/>
          <p:nvPr/>
        </p:nvSpPr>
        <p:spPr>
          <a:xfrm>
            <a:off x="6342400" y="5163443"/>
            <a:ext cx="2262230" cy="904875"/>
          </a:xfrm>
          <a:prstGeom prst="rect">
            <a:avLst/>
          </a:prstGeom>
          <a:noFill/>
          <a:ln/>
        </p:spPr>
        <p:txBody>
          <a:bodyPr wrap="square" lIns="0" tIns="0" rIns="0" bIns="0" rtlCol="0" anchor="t">
            <a:normAutofit/>
          </a:bodyPr>
          <a:lstStyle/>
          <a:p>
            <a:pPr algn="l" indent="0" marL="0">
              <a:lnSpc>
                <a:spcPct val="111000"/>
              </a:lnSpc>
              <a:buNone/>
            </a:pPr>
            <a:r>
              <a:rPr lang="en-US" sz="1300" dirty="0">
                <a:solidFill>
                  <a:srgbClr val="000000"/>
                </a:solidFill>
                <a:latin typeface="Instrument Sans" pitchFamily="34" charset="0"/>
                <a:ea typeface="Instrument Sans" pitchFamily="34" charset="-122"/>
                <a:cs typeface="Instrument Sans" pitchFamily="34" charset="-120"/>
              </a:rPr>
              <a:t>Analyze how often customers shop and what drives repeat purchases over time.</a:t>
            </a:r>
            <a:endParaRPr lang="en-US" sz="1300" dirty="0"/>
          </a:p>
        </p:txBody>
      </p:sp>
      <p:sp>
        <p:nvSpPr>
          <p:cNvPr id="20" name="Shape 14"/>
          <p:cNvSpPr/>
          <p:nvPr/>
        </p:nvSpPr>
        <p:spPr>
          <a:xfrm>
            <a:off x="8927777" y="4025602"/>
            <a:ext cx="2602443" cy="2212777"/>
          </a:xfrm>
          <a:prstGeom prst="roundRect">
            <a:avLst>
              <a:gd name="adj" fmla="val 3229"/>
            </a:avLst>
          </a:prstGeom>
          <a:solidFill>
            <a:srgbClr val="32CD32"/>
          </a:solidFill>
          <a:ln/>
        </p:spPr>
      </p:sp>
      <p:sp>
        <p:nvSpPr>
          <p:cNvPr id="21" name="Shape 15"/>
          <p:cNvSpPr/>
          <p:nvPr/>
        </p:nvSpPr>
        <p:spPr>
          <a:xfrm>
            <a:off x="9097834" y="4195663"/>
            <a:ext cx="510269" cy="510282"/>
          </a:xfrm>
          <a:prstGeom prst="ellipse">
            <a:avLst/>
          </a:prstGeom>
          <a:solidFill>
            <a:srgbClr val="32CD32"/>
          </a:solidFill>
          <a:ln/>
        </p:spPr>
      </p:sp>
      <p:pic>
        <p:nvPicPr>
          <p:cNvPr id="22"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38126" y="4335959"/>
            <a:ext cx="229586" cy="229592"/>
          </a:xfrm>
          <a:prstGeom prst="rect">
            <a:avLst/>
          </a:prstGeom>
        </p:spPr>
      </p:pic>
      <p:sp>
        <p:nvSpPr>
          <p:cNvPr id="23" name="Text 16"/>
          <p:cNvSpPr/>
          <p:nvPr/>
        </p:nvSpPr>
        <p:spPr>
          <a:xfrm>
            <a:off x="9097834" y="4859040"/>
            <a:ext cx="2262329" cy="212626"/>
          </a:xfrm>
          <a:prstGeom prst="rect">
            <a:avLst/>
          </a:prstGeom>
          <a:noFill/>
          <a:ln/>
        </p:spPr>
        <p:txBody>
          <a:bodyPr wrap="none" lIns="0" tIns="0" rIns="0" bIns="0" rtlCol="0" anchor="t"/>
          <a:lstStyle/>
          <a:p>
            <a:pPr algn="l" indent="0" marL="0">
              <a:lnSpc>
                <a:spcPct val="83000"/>
              </a:lnSpc>
              <a:buNone/>
            </a:pPr>
            <a:r>
              <a:rPr lang="en-US" sz="1650" dirty="0">
                <a:solidFill>
                  <a:srgbClr val="000000"/>
                </a:solidFill>
                <a:latin typeface="Instrument Sans SemiBold" pitchFamily="34" charset="0"/>
                <a:ea typeface="Instrument Sans SemiBold" pitchFamily="34" charset="-122"/>
                <a:cs typeface="Instrument Sans SemiBold" pitchFamily="34" charset="-120"/>
              </a:rPr>
              <a:t>Business Insights</a:t>
            </a:r>
            <a:endParaRPr lang="en-US" sz="1650" dirty="0"/>
          </a:p>
        </p:txBody>
      </p:sp>
      <p:sp>
        <p:nvSpPr>
          <p:cNvPr id="24" name="Text 17"/>
          <p:cNvSpPr/>
          <p:nvPr/>
        </p:nvSpPr>
        <p:spPr>
          <a:xfrm>
            <a:off x="9097834" y="5163443"/>
            <a:ext cx="2262329" cy="904875"/>
          </a:xfrm>
          <a:prstGeom prst="rect">
            <a:avLst/>
          </a:prstGeom>
          <a:noFill/>
          <a:ln/>
        </p:spPr>
        <p:txBody>
          <a:bodyPr wrap="square" lIns="0" tIns="0" rIns="0" bIns="0" rtlCol="0" anchor="t">
            <a:normAutofit/>
          </a:bodyPr>
          <a:lstStyle/>
          <a:p>
            <a:pPr algn="l" indent="0" marL="0">
              <a:lnSpc>
                <a:spcPct val="111000"/>
              </a:lnSpc>
              <a:buNone/>
            </a:pPr>
            <a:r>
              <a:rPr lang="en-US" sz="1300" dirty="0">
                <a:solidFill>
                  <a:srgbClr val="000000"/>
                </a:solidFill>
                <a:latin typeface="Instrument Sans" pitchFamily="34" charset="0"/>
                <a:ea typeface="Instrument Sans" pitchFamily="34" charset="-122"/>
                <a:cs typeface="Instrument Sans" pitchFamily="34" charset="-120"/>
              </a:rPr>
              <a:t>Transform raw transaction data into actionable strategies for marketing and sales optimization.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635496"/>
            <a:ext cx="1581309" cy="272752"/>
          </a:xfrm>
          <a:prstGeom prst="roundRect">
            <a:avLst>
              <a:gd name="adj" fmla="val 22121"/>
            </a:avLst>
          </a:prstGeom>
          <a:solidFill>
            <a:srgbClr val="333A33"/>
          </a:solidFill>
          <a:ln/>
        </p:spPr>
      </p:sp>
      <p:sp>
        <p:nvSpPr>
          <p:cNvPr id="3" name="Shape 1"/>
          <p:cNvSpPr/>
          <p:nvPr/>
        </p:nvSpPr>
        <p:spPr>
          <a:xfrm>
            <a:off x="769125" y="700088"/>
            <a:ext cx="143566" cy="143570"/>
          </a:xfrm>
          <a:prstGeom prst="rect">
            <a:avLst/>
          </a:prstGeom>
          <a:solidFill>
            <a:srgbClr val="FFFFFF"/>
          </a:solidFill>
          <a:ln/>
        </p:spPr>
      </p:sp>
      <p:sp>
        <p:nvSpPr>
          <p:cNvPr id="4" name="Text 2"/>
          <p:cNvSpPr/>
          <p:nvPr/>
        </p:nvSpPr>
        <p:spPr>
          <a:xfrm>
            <a:off x="984424" y="689273"/>
            <a:ext cx="1760295" cy="165199"/>
          </a:xfrm>
          <a:prstGeom prst="rect">
            <a:avLst/>
          </a:prstGeom>
          <a:noFill/>
          <a:ln/>
        </p:spPr>
        <p:txBody>
          <a:bodyPr wrap="none" lIns="0" tIns="0" rIns="0" bIns="0" rtlCol="0" anchor="t"/>
          <a:lstStyle/>
          <a:p>
            <a:pPr algn="l" indent="0" marL="0">
              <a:lnSpc>
                <a:spcPct val="96000"/>
              </a:lnSpc>
              <a:buNone/>
            </a:pPr>
            <a:r>
              <a:rPr lang="en-US" sz="1100" dirty="0">
                <a:solidFill>
                  <a:srgbClr val="FFFFFF"/>
                </a:solidFill>
                <a:latin typeface="Instrument Sans" pitchFamily="34" charset="0"/>
                <a:ea typeface="Instrument Sans" pitchFamily="34" charset="-122"/>
                <a:cs typeface="Instrument Sans" pitchFamily="34" charset="-120"/>
              </a:rPr>
              <a:t>PROJECT GOALS</a:t>
            </a:r>
            <a:endParaRPr lang="en-US" sz="1100" dirty="0"/>
          </a:p>
        </p:txBody>
      </p:sp>
      <p:sp>
        <p:nvSpPr>
          <p:cNvPr id="5" name="Text 3"/>
          <p:cNvSpPr/>
          <p:nvPr/>
        </p:nvSpPr>
        <p:spPr>
          <a:xfrm>
            <a:off x="661475" y="976412"/>
            <a:ext cx="10868745" cy="448965"/>
          </a:xfrm>
          <a:prstGeom prst="rect">
            <a:avLst/>
          </a:prstGeom>
          <a:noFill/>
          <a:ln/>
        </p:spPr>
        <p:txBody>
          <a:bodyPr wrap="none" lIns="0" tIns="0" rIns="0" bIns="0" rtlCol="0" anchor="t"/>
          <a:lstStyle/>
          <a:p>
            <a:pPr algn="l" indent="0" marL="0">
              <a:lnSpc>
                <a:spcPct val="83000"/>
              </a:lnSpc>
              <a:buNone/>
            </a:pPr>
            <a:r>
              <a:rPr lang="en-US" sz="3500" dirty="0">
                <a:solidFill>
                  <a:srgbClr val="FFFFFF"/>
                </a:solidFill>
                <a:latin typeface="Instrument Sans SemiBold" pitchFamily="34" charset="0"/>
                <a:ea typeface="Instrument Sans SemiBold" pitchFamily="34" charset="-122"/>
                <a:cs typeface="Instrument Sans SemiBold" pitchFamily="34" charset="-120"/>
              </a:rPr>
              <a:t>Project Objectives</a:t>
            </a:r>
            <a:endParaRPr lang="en-US" sz="3500" dirty="0"/>
          </a:p>
        </p:txBody>
      </p:sp>
      <p:sp>
        <p:nvSpPr>
          <p:cNvPr id="6" name="Text 4"/>
          <p:cNvSpPr/>
          <p:nvPr/>
        </p:nvSpPr>
        <p:spPr>
          <a:xfrm>
            <a:off x="661475" y="1681262"/>
            <a:ext cx="10868745" cy="490141"/>
          </a:xfrm>
          <a:prstGeom prst="rect">
            <a:avLst/>
          </a:prstGeom>
          <a:noFill/>
          <a:ln/>
        </p:spPr>
        <p:txBody>
          <a:bodyPr wrap="square" lIns="0" tIns="0" rIns="0" bIns="0" rtlCol="0" anchor="t">
            <a:normAutofit/>
          </a:bodyPr>
          <a:lstStyle/>
          <a:p>
            <a:pPr algn="l" indent="0" marL="0">
              <a:lnSpc>
                <a:spcPct val="114000"/>
              </a:lnSpc>
              <a:buNone/>
            </a:pPr>
            <a:r>
              <a:rPr lang="en-US" sz="1400" dirty="0">
                <a:solidFill>
                  <a:srgbClr val="E5E0DF"/>
                </a:solidFill>
                <a:latin typeface="Instrument Sans" pitchFamily="34" charset="0"/>
                <a:ea typeface="Instrument Sans" pitchFamily="34" charset="-122"/>
                <a:cs typeface="Instrument Sans" pitchFamily="34" charset="-120"/>
              </a:rPr>
              <a:t>This project aims to deliver data-driven insights that enable businesses to make smarter decisions about marketing, inventory, and customer engagement strategies.</a:t>
            </a:r>
            <a:endParaRPr lang="en-US" sz="1400" dirty="0"/>
          </a:p>
        </p:txBody>
      </p:sp>
      <p:sp>
        <p:nvSpPr>
          <p:cNvPr id="7" name="Text 5"/>
          <p:cNvSpPr/>
          <p:nvPr/>
        </p:nvSpPr>
        <p:spPr>
          <a:xfrm>
            <a:off x="661475" y="2584748"/>
            <a:ext cx="3358173" cy="269379"/>
          </a:xfrm>
          <a:prstGeom prst="rect">
            <a:avLst/>
          </a:prstGeom>
          <a:noFill/>
          <a:ln/>
        </p:spPr>
        <p:txBody>
          <a:bodyPr wrap="none" lIns="0" tIns="0" rIns="0" bIns="0" rtlCol="0" anchor="t"/>
          <a:lstStyle/>
          <a:p>
            <a:pPr algn="r" indent="0" marL="0">
              <a:lnSpc>
                <a:spcPct val="83000"/>
              </a:lnSpc>
              <a:buNone/>
            </a:pPr>
            <a:r>
              <a:rPr lang="en-US" sz="2100" dirty="0">
                <a:solidFill>
                  <a:srgbClr val="E5E0DF"/>
                </a:solidFill>
                <a:latin typeface="Instrument Sans SemiBold" pitchFamily="34" charset="0"/>
                <a:ea typeface="Instrument Sans SemiBold" pitchFamily="34" charset="-122"/>
                <a:cs typeface="Instrument Sans SemiBold" pitchFamily="34" charset="-120"/>
              </a:rPr>
              <a:t>Behavior</a:t>
            </a:r>
            <a:endParaRPr lang="en-US" sz="2100" dirty="0"/>
          </a:p>
        </p:txBody>
      </p:sp>
      <p:sp>
        <p:nvSpPr>
          <p:cNvPr id="8" name="Text 6"/>
          <p:cNvSpPr/>
          <p:nvPr/>
        </p:nvSpPr>
        <p:spPr>
          <a:xfrm>
            <a:off x="661475" y="2956421"/>
            <a:ext cx="3358173" cy="980281"/>
          </a:xfrm>
          <a:prstGeom prst="rect">
            <a:avLst/>
          </a:prstGeom>
          <a:noFill/>
          <a:ln/>
        </p:spPr>
        <p:txBody>
          <a:bodyPr wrap="square" lIns="0" tIns="0" rIns="0" bIns="0" rtlCol="0" anchor="t">
            <a:normAutofit/>
          </a:bodyPr>
          <a:lstStyle/>
          <a:p>
            <a:pPr algn="r" indent="0" marL="0">
              <a:lnSpc>
                <a:spcPct val="114000"/>
              </a:lnSpc>
              <a:buNone/>
            </a:pPr>
            <a:r>
              <a:rPr lang="en-US" sz="1400" dirty="0">
                <a:solidFill>
                  <a:srgbClr val="E5E0DF"/>
                </a:solidFill>
                <a:latin typeface="Instrument Sans" pitchFamily="34" charset="0"/>
                <a:ea typeface="Instrument Sans" pitchFamily="34" charset="-122"/>
                <a:cs typeface="Instrument Sans" pitchFamily="34" charset="-120"/>
              </a:rPr>
              <a:t>Understand customer purchasing behavior and the key drivers behind buying decisions across different channels.</a:t>
            </a:r>
            <a:endParaRPr lang="en-US" sz="1400" dirty="0"/>
          </a:p>
        </p:txBody>
      </p:sp>
      <p:pic>
        <p:nvPicPr>
          <p:cNvPr id="9" name="Image 0" descr="preencoded.png">    </p:cNvPr>
          <p:cNvPicPr>
            <a:picLocks noChangeAspect="1"/>
          </p:cNvPicPr>
          <p:nvPr/>
        </p:nvPicPr>
        <p:blipFill>
          <a:blip r:embed="rId1"/>
          <a:stretch>
            <a:fillRect/>
          </a:stretch>
        </p:blipFill>
        <p:spPr>
          <a:xfrm>
            <a:off x="4288921" y="2485926"/>
            <a:ext cx="3613853" cy="3613944"/>
          </a:xfrm>
          <a:prstGeom prst="rect">
            <a:avLst/>
          </a:prstGeom>
        </p:spPr>
      </p:pic>
      <p:sp>
        <p:nvSpPr>
          <p:cNvPr id="10" name="Text 7"/>
          <p:cNvSpPr/>
          <p:nvPr/>
        </p:nvSpPr>
        <p:spPr>
          <a:xfrm>
            <a:off x="4938192" y="3415010"/>
            <a:ext cx="268678" cy="268684"/>
          </a:xfrm>
          <a:prstGeom prst="rect">
            <a:avLst/>
          </a:prstGeom>
          <a:noFill/>
          <a:ln/>
        </p:spPr>
        <p:txBody>
          <a:bodyPr wrap="none" lIns="0" tIns="0" rIns="0" bIns="0" rtlCol="0" anchor="ctr"/>
          <a:lstStyle/>
          <a:p>
            <a:pPr algn="ctr" indent="0" marL="0">
              <a:lnSpc>
                <a:spcPct val="100000"/>
              </a:lnSpc>
              <a:buNone/>
            </a:pPr>
            <a:r>
              <a:rPr lang="en-US" sz="2100" dirty="0">
                <a:solidFill>
                  <a:srgbClr val="000000"/>
                </a:solidFill>
                <a:latin typeface="Instrument Sans SemiBold" pitchFamily="34" charset="0"/>
                <a:ea typeface="Instrument Sans SemiBold" pitchFamily="34" charset="-122"/>
                <a:cs typeface="Instrument Sans SemiBold" pitchFamily="34" charset="-120"/>
              </a:rPr>
              <a:t>1</a:t>
            </a:r>
            <a:endParaRPr lang="en-US" sz="2100" dirty="0"/>
          </a:p>
        </p:txBody>
      </p:sp>
      <p:sp>
        <p:nvSpPr>
          <p:cNvPr id="11" name="Text 8"/>
          <p:cNvSpPr/>
          <p:nvPr/>
        </p:nvSpPr>
        <p:spPr>
          <a:xfrm>
            <a:off x="8172047" y="2363291"/>
            <a:ext cx="3358173" cy="269379"/>
          </a:xfrm>
          <a:prstGeom prst="rect">
            <a:avLst/>
          </a:prstGeom>
          <a:noFill/>
          <a:ln/>
        </p:spPr>
        <p:txBody>
          <a:bodyPr wrap="none" lIns="0" tIns="0" rIns="0" bIns="0" rtlCol="0" anchor="t"/>
          <a:lstStyle/>
          <a:p>
            <a:pPr algn="l" indent="0" marL="0">
              <a:lnSpc>
                <a:spcPct val="83000"/>
              </a:lnSpc>
              <a:buNone/>
            </a:pPr>
            <a:r>
              <a:rPr lang="en-US" sz="2100" dirty="0">
                <a:solidFill>
                  <a:srgbClr val="E5E0DF"/>
                </a:solidFill>
                <a:latin typeface="Instrument Sans SemiBold" pitchFamily="34" charset="0"/>
                <a:ea typeface="Instrument Sans SemiBold" pitchFamily="34" charset="-122"/>
                <a:cs typeface="Instrument Sans SemiBold" pitchFamily="34" charset="-120"/>
              </a:rPr>
              <a:t>Spending</a:t>
            </a:r>
            <a:endParaRPr lang="en-US" sz="2100" dirty="0"/>
          </a:p>
        </p:txBody>
      </p:sp>
      <p:sp>
        <p:nvSpPr>
          <p:cNvPr id="12" name="Text 9"/>
          <p:cNvSpPr/>
          <p:nvPr/>
        </p:nvSpPr>
        <p:spPr>
          <a:xfrm>
            <a:off x="8172047" y="2734965"/>
            <a:ext cx="3358173" cy="735211"/>
          </a:xfrm>
          <a:prstGeom prst="rect">
            <a:avLst/>
          </a:prstGeom>
          <a:noFill/>
          <a:ln/>
        </p:spPr>
        <p:txBody>
          <a:bodyPr wrap="square" lIns="0" tIns="0" rIns="0" bIns="0" rtlCol="0" anchor="t">
            <a:normAutofit/>
          </a:bodyPr>
          <a:lstStyle/>
          <a:p>
            <a:pPr algn="l" indent="0" marL="0">
              <a:lnSpc>
                <a:spcPct val="114000"/>
              </a:lnSpc>
              <a:buNone/>
            </a:pPr>
            <a:r>
              <a:rPr lang="en-US" sz="1400" dirty="0">
                <a:solidFill>
                  <a:srgbClr val="E5E0DF"/>
                </a:solidFill>
                <a:latin typeface="Instrument Sans" pitchFamily="34" charset="0"/>
                <a:ea typeface="Instrument Sans" pitchFamily="34" charset="-122"/>
                <a:cs typeface="Instrument Sans" pitchFamily="34" charset="-120"/>
              </a:rPr>
              <a:t>Analyze spending patterns across different customer groups to identify high-value segments worth targeting.</a:t>
            </a:r>
            <a:endParaRPr lang="en-US" sz="1400" dirty="0"/>
          </a:p>
        </p:txBody>
      </p:sp>
      <p:pic>
        <p:nvPicPr>
          <p:cNvPr id="13" name="Image 1" descr="preencoded.png">    </p:cNvPr>
          <p:cNvPicPr>
            <a:picLocks noChangeAspect="1"/>
          </p:cNvPicPr>
          <p:nvPr/>
        </p:nvPicPr>
        <p:blipFill>
          <a:blip r:embed="rId2"/>
          <a:stretch>
            <a:fillRect/>
          </a:stretch>
        </p:blipFill>
        <p:spPr>
          <a:xfrm>
            <a:off x="4288921" y="2485926"/>
            <a:ext cx="3613853" cy="3613944"/>
          </a:xfrm>
          <a:prstGeom prst="rect">
            <a:avLst/>
          </a:prstGeom>
        </p:spPr>
      </p:pic>
      <p:sp>
        <p:nvSpPr>
          <p:cNvPr id="14" name="Text 10"/>
          <p:cNvSpPr/>
          <p:nvPr/>
        </p:nvSpPr>
        <p:spPr>
          <a:xfrm>
            <a:off x="6352322" y="2955528"/>
            <a:ext cx="268678" cy="268684"/>
          </a:xfrm>
          <a:prstGeom prst="rect">
            <a:avLst/>
          </a:prstGeom>
          <a:noFill/>
          <a:ln/>
        </p:spPr>
        <p:txBody>
          <a:bodyPr wrap="none" lIns="0" tIns="0" rIns="0" bIns="0" rtlCol="0" anchor="ctr"/>
          <a:lstStyle/>
          <a:p>
            <a:pPr algn="ctr" indent="0" marL="0">
              <a:lnSpc>
                <a:spcPct val="100000"/>
              </a:lnSpc>
              <a:buNone/>
            </a:pPr>
            <a:r>
              <a:rPr lang="en-US" sz="2100" dirty="0">
                <a:solidFill>
                  <a:srgbClr val="000000"/>
                </a:solidFill>
                <a:latin typeface="Instrument Sans SemiBold" pitchFamily="34" charset="0"/>
                <a:ea typeface="Instrument Sans SemiBold" pitchFamily="34" charset="-122"/>
                <a:cs typeface="Instrument Sans SemiBold" pitchFamily="34" charset="-120"/>
              </a:rPr>
              <a:t>2</a:t>
            </a:r>
            <a:endParaRPr lang="en-US" sz="2100" dirty="0"/>
          </a:p>
        </p:txBody>
      </p:sp>
      <p:sp>
        <p:nvSpPr>
          <p:cNvPr id="15" name="Text 11"/>
          <p:cNvSpPr/>
          <p:nvPr/>
        </p:nvSpPr>
        <p:spPr>
          <a:xfrm>
            <a:off x="8261838" y="3739455"/>
            <a:ext cx="3268382" cy="269379"/>
          </a:xfrm>
          <a:prstGeom prst="rect">
            <a:avLst/>
          </a:prstGeom>
          <a:noFill/>
          <a:ln/>
        </p:spPr>
        <p:txBody>
          <a:bodyPr wrap="none" lIns="0" tIns="0" rIns="0" bIns="0" rtlCol="0" anchor="t"/>
          <a:lstStyle/>
          <a:p>
            <a:pPr algn="l" indent="0" marL="0">
              <a:lnSpc>
                <a:spcPct val="83000"/>
              </a:lnSpc>
              <a:buNone/>
            </a:pPr>
            <a:r>
              <a:rPr lang="en-US" sz="2100" dirty="0">
                <a:solidFill>
                  <a:srgbClr val="E5E0DF"/>
                </a:solidFill>
                <a:latin typeface="Instrument Sans SemiBold" pitchFamily="34" charset="0"/>
                <a:ea typeface="Instrument Sans SemiBold" pitchFamily="34" charset="-122"/>
                <a:cs typeface="Instrument Sans SemiBold" pitchFamily="34" charset="-120"/>
              </a:rPr>
              <a:t>Categories</a:t>
            </a:r>
            <a:endParaRPr lang="en-US" sz="2100" dirty="0"/>
          </a:p>
        </p:txBody>
      </p:sp>
      <p:sp>
        <p:nvSpPr>
          <p:cNvPr id="16" name="Text 12"/>
          <p:cNvSpPr/>
          <p:nvPr/>
        </p:nvSpPr>
        <p:spPr>
          <a:xfrm>
            <a:off x="8261838" y="4111129"/>
            <a:ext cx="3268382" cy="735211"/>
          </a:xfrm>
          <a:prstGeom prst="rect">
            <a:avLst/>
          </a:prstGeom>
          <a:noFill/>
          <a:ln/>
        </p:spPr>
        <p:txBody>
          <a:bodyPr wrap="square" lIns="0" tIns="0" rIns="0" bIns="0" rtlCol="0" anchor="t">
            <a:normAutofit/>
          </a:bodyPr>
          <a:lstStyle/>
          <a:p>
            <a:pPr algn="l" indent="0" marL="0">
              <a:lnSpc>
                <a:spcPct val="114000"/>
              </a:lnSpc>
              <a:buNone/>
            </a:pPr>
            <a:r>
              <a:rPr lang="en-US" sz="1400" dirty="0">
                <a:solidFill>
                  <a:srgbClr val="E5E0DF"/>
                </a:solidFill>
                <a:latin typeface="Instrument Sans" pitchFamily="34" charset="0"/>
                <a:ea typeface="Instrument Sans" pitchFamily="34" charset="-122"/>
                <a:cs typeface="Instrument Sans" pitchFamily="34" charset="-120"/>
              </a:rPr>
              <a:t>Identify the most popular product categories to inform inventory planning and promotional focus.</a:t>
            </a:r>
            <a:endParaRPr lang="en-US" sz="1400" dirty="0"/>
          </a:p>
        </p:txBody>
      </p:sp>
      <p:pic>
        <p:nvPicPr>
          <p:cNvPr id="17" name="Image 2" descr="preencoded.png">    </p:cNvPr>
          <p:cNvPicPr>
            <a:picLocks noChangeAspect="1"/>
          </p:cNvPicPr>
          <p:nvPr/>
        </p:nvPicPr>
        <p:blipFill>
          <a:blip r:embed="rId3"/>
          <a:stretch>
            <a:fillRect/>
          </a:stretch>
        </p:blipFill>
        <p:spPr>
          <a:xfrm>
            <a:off x="4288921" y="2485926"/>
            <a:ext cx="3613853" cy="3613944"/>
          </a:xfrm>
          <a:prstGeom prst="rect">
            <a:avLst/>
          </a:prstGeom>
        </p:spPr>
      </p:pic>
      <p:sp>
        <p:nvSpPr>
          <p:cNvPr id="18" name="Text 13"/>
          <p:cNvSpPr/>
          <p:nvPr/>
        </p:nvSpPr>
        <p:spPr>
          <a:xfrm>
            <a:off x="7226318" y="4158555"/>
            <a:ext cx="268678" cy="268684"/>
          </a:xfrm>
          <a:prstGeom prst="rect">
            <a:avLst/>
          </a:prstGeom>
          <a:noFill/>
          <a:ln/>
        </p:spPr>
        <p:txBody>
          <a:bodyPr wrap="none" lIns="0" tIns="0" rIns="0" bIns="0" rtlCol="0" anchor="ctr"/>
          <a:lstStyle/>
          <a:p>
            <a:pPr algn="ctr" indent="0" marL="0">
              <a:lnSpc>
                <a:spcPct val="100000"/>
              </a:lnSpc>
              <a:buNone/>
            </a:pPr>
            <a:r>
              <a:rPr lang="en-US" sz="2100" dirty="0">
                <a:solidFill>
                  <a:srgbClr val="000000"/>
                </a:solidFill>
                <a:latin typeface="Instrument Sans SemiBold" pitchFamily="34" charset="0"/>
                <a:ea typeface="Instrument Sans SemiBold" pitchFamily="34" charset="-122"/>
                <a:cs typeface="Instrument Sans SemiBold" pitchFamily="34" charset="-120"/>
              </a:rPr>
              <a:t>3</a:t>
            </a:r>
            <a:endParaRPr lang="en-US" sz="2100" dirty="0"/>
          </a:p>
        </p:txBody>
      </p:sp>
      <p:sp>
        <p:nvSpPr>
          <p:cNvPr id="19" name="Text 14"/>
          <p:cNvSpPr/>
          <p:nvPr/>
        </p:nvSpPr>
        <p:spPr>
          <a:xfrm>
            <a:off x="8172047" y="5115620"/>
            <a:ext cx="3358173" cy="269379"/>
          </a:xfrm>
          <a:prstGeom prst="rect">
            <a:avLst/>
          </a:prstGeom>
          <a:noFill/>
          <a:ln/>
        </p:spPr>
        <p:txBody>
          <a:bodyPr wrap="none" lIns="0" tIns="0" rIns="0" bIns="0" rtlCol="0" anchor="t"/>
          <a:lstStyle/>
          <a:p>
            <a:pPr algn="l" indent="0" marL="0">
              <a:lnSpc>
                <a:spcPct val="83000"/>
              </a:lnSpc>
              <a:buNone/>
            </a:pPr>
            <a:r>
              <a:rPr lang="en-US" sz="2100" dirty="0">
                <a:solidFill>
                  <a:srgbClr val="E5E0DF"/>
                </a:solidFill>
                <a:latin typeface="Instrument Sans SemiBold" pitchFamily="34" charset="0"/>
                <a:ea typeface="Instrument Sans SemiBold" pitchFamily="34" charset="-122"/>
                <a:cs typeface="Instrument Sans SemiBold" pitchFamily="34" charset="-120"/>
              </a:rPr>
              <a:t>Demographics</a:t>
            </a:r>
            <a:endParaRPr lang="en-US" sz="2100" dirty="0"/>
          </a:p>
        </p:txBody>
      </p:sp>
      <p:sp>
        <p:nvSpPr>
          <p:cNvPr id="20" name="Text 15"/>
          <p:cNvSpPr/>
          <p:nvPr/>
        </p:nvSpPr>
        <p:spPr>
          <a:xfrm>
            <a:off x="8172047" y="5487293"/>
            <a:ext cx="3358173" cy="735211"/>
          </a:xfrm>
          <a:prstGeom prst="rect">
            <a:avLst/>
          </a:prstGeom>
          <a:noFill/>
          <a:ln/>
        </p:spPr>
        <p:txBody>
          <a:bodyPr wrap="square" lIns="0" tIns="0" rIns="0" bIns="0" rtlCol="0" anchor="t">
            <a:normAutofit/>
          </a:bodyPr>
          <a:lstStyle/>
          <a:p>
            <a:pPr algn="l" indent="0" marL="0">
              <a:lnSpc>
                <a:spcPct val="114000"/>
              </a:lnSpc>
              <a:buNone/>
            </a:pPr>
            <a:r>
              <a:rPr lang="en-US" sz="1400" dirty="0">
                <a:solidFill>
                  <a:srgbClr val="E5E0DF"/>
                </a:solidFill>
                <a:latin typeface="Instrument Sans" pitchFamily="34" charset="0"/>
                <a:ea typeface="Instrument Sans" pitchFamily="34" charset="-122"/>
                <a:cs typeface="Instrument Sans" pitchFamily="34" charset="-120"/>
              </a:rPr>
              <a:t>Study the impact of age and gender on shopping habits to power personalized marketing campaigns.</a:t>
            </a:r>
            <a:endParaRPr lang="en-US" sz="1400" dirty="0"/>
          </a:p>
        </p:txBody>
      </p:sp>
      <p:pic>
        <p:nvPicPr>
          <p:cNvPr id="21" name="Image 3" descr="preencoded.png">    </p:cNvPr>
          <p:cNvPicPr>
            <a:picLocks noChangeAspect="1"/>
          </p:cNvPicPr>
          <p:nvPr/>
        </p:nvPicPr>
        <p:blipFill>
          <a:blip r:embed="rId4"/>
          <a:stretch>
            <a:fillRect/>
          </a:stretch>
        </p:blipFill>
        <p:spPr>
          <a:xfrm>
            <a:off x="4288921" y="2485926"/>
            <a:ext cx="3613853" cy="3613944"/>
          </a:xfrm>
          <a:prstGeom prst="rect">
            <a:avLst/>
          </a:prstGeom>
        </p:spPr>
      </p:pic>
      <p:sp>
        <p:nvSpPr>
          <p:cNvPr id="22" name="Text 16"/>
          <p:cNvSpPr/>
          <p:nvPr/>
        </p:nvSpPr>
        <p:spPr>
          <a:xfrm>
            <a:off x="6352322" y="5361484"/>
            <a:ext cx="268678" cy="268684"/>
          </a:xfrm>
          <a:prstGeom prst="rect">
            <a:avLst/>
          </a:prstGeom>
          <a:noFill/>
          <a:ln/>
        </p:spPr>
        <p:txBody>
          <a:bodyPr wrap="none" lIns="0" tIns="0" rIns="0" bIns="0" rtlCol="0" anchor="ctr"/>
          <a:lstStyle/>
          <a:p>
            <a:pPr algn="ctr" indent="0" marL="0">
              <a:lnSpc>
                <a:spcPct val="100000"/>
              </a:lnSpc>
              <a:buNone/>
            </a:pPr>
            <a:r>
              <a:rPr lang="en-US" sz="2100" dirty="0">
                <a:solidFill>
                  <a:srgbClr val="000000"/>
                </a:solidFill>
                <a:latin typeface="Instrument Sans SemiBold" pitchFamily="34" charset="0"/>
                <a:ea typeface="Instrument Sans SemiBold" pitchFamily="34" charset="-122"/>
                <a:cs typeface="Instrument Sans SemiBold" pitchFamily="34" charset="-120"/>
              </a:rPr>
              <a:t>4</a:t>
            </a:r>
            <a:endParaRPr lang="en-US" sz="2100" dirty="0"/>
          </a:p>
        </p:txBody>
      </p:sp>
      <p:sp>
        <p:nvSpPr>
          <p:cNvPr id="23" name="Text 17"/>
          <p:cNvSpPr/>
          <p:nvPr/>
        </p:nvSpPr>
        <p:spPr>
          <a:xfrm>
            <a:off x="661475" y="4771529"/>
            <a:ext cx="3358173" cy="269379"/>
          </a:xfrm>
          <a:prstGeom prst="rect">
            <a:avLst/>
          </a:prstGeom>
          <a:noFill/>
          <a:ln/>
        </p:spPr>
        <p:txBody>
          <a:bodyPr wrap="none" lIns="0" tIns="0" rIns="0" bIns="0" rtlCol="0" anchor="t"/>
          <a:lstStyle/>
          <a:p>
            <a:pPr algn="r" indent="0" marL="0">
              <a:lnSpc>
                <a:spcPct val="83000"/>
              </a:lnSpc>
              <a:buNone/>
            </a:pPr>
            <a:r>
              <a:rPr lang="en-US" sz="2100" dirty="0">
                <a:solidFill>
                  <a:srgbClr val="E5E0DF"/>
                </a:solidFill>
                <a:latin typeface="Instrument Sans SemiBold" pitchFamily="34" charset="0"/>
                <a:ea typeface="Instrument Sans SemiBold" pitchFamily="34" charset="-122"/>
                <a:cs typeface="Instrument Sans SemiBold" pitchFamily="34" charset="-120"/>
              </a:rPr>
              <a:t>Payments</a:t>
            </a:r>
            <a:endParaRPr lang="en-US" sz="2100" dirty="0"/>
          </a:p>
        </p:txBody>
      </p:sp>
      <p:sp>
        <p:nvSpPr>
          <p:cNvPr id="24" name="Text 18"/>
          <p:cNvSpPr/>
          <p:nvPr/>
        </p:nvSpPr>
        <p:spPr>
          <a:xfrm>
            <a:off x="661475" y="5143202"/>
            <a:ext cx="3358173" cy="735211"/>
          </a:xfrm>
          <a:prstGeom prst="rect">
            <a:avLst/>
          </a:prstGeom>
          <a:noFill/>
          <a:ln/>
        </p:spPr>
        <p:txBody>
          <a:bodyPr wrap="square" lIns="0" tIns="0" rIns="0" bIns="0" rtlCol="0" anchor="t">
            <a:normAutofit/>
          </a:bodyPr>
          <a:lstStyle/>
          <a:p>
            <a:pPr algn="r" indent="0" marL="0">
              <a:lnSpc>
                <a:spcPct val="114000"/>
              </a:lnSpc>
              <a:buNone/>
            </a:pPr>
            <a:r>
              <a:rPr lang="en-US" sz="1400" dirty="0">
                <a:solidFill>
                  <a:srgbClr val="E5E0DF"/>
                </a:solidFill>
                <a:latin typeface="Instrument Sans" pitchFamily="34" charset="0"/>
                <a:ea typeface="Instrument Sans" pitchFamily="34" charset="-122"/>
                <a:cs typeface="Instrument Sans" pitchFamily="34" charset="-120"/>
              </a:rPr>
              <a:t>Examine preferred payment methods and generate visualization-driven business insights for decision-makers.</a:t>
            </a:r>
            <a:endParaRPr lang="en-US" sz="1400" dirty="0"/>
          </a:p>
        </p:txBody>
      </p:sp>
      <p:pic>
        <p:nvPicPr>
          <p:cNvPr id="25" name="Image 4" descr="preencoded.png">    </p:cNvPr>
          <p:cNvPicPr>
            <a:picLocks noChangeAspect="1"/>
          </p:cNvPicPr>
          <p:nvPr/>
        </p:nvPicPr>
        <p:blipFill>
          <a:blip r:embed="rId5"/>
          <a:stretch>
            <a:fillRect/>
          </a:stretch>
        </p:blipFill>
        <p:spPr>
          <a:xfrm>
            <a:off x="4288921" y="2485926"/>
            <a:ext cx="3613853" cy="3613944"/>
          </a:xfrm>
          <a:prstGeom prst="rect">
            <a:avLst/>
          </a:prstGeom>
        </p:spPr>
      </p:pic>
      <p:sp>
        <p:nvSpPr>
          <p:cNvPr id="26" name="Text 19"/>
          <p:cNvSpPr/>
          <p:nvPr/>
        </p:nvSpPr>
        <p:spPr>
          <a:xfrm>
            <a:off x="4938192" y="4902002"/>
            <a:ext cx="268678" cy="268684"/>
          </a:xfrm>
          <a:prstGeom prst="rect">
            <a:avLst/>
          </a:prstGeom>
          <a:noFill/>
          <a:ln/>
        </p:spPr>
        <p:txBody>
          <a:bodyPr wrap="none" lIns="0" tIns="0" rIns="0" bIns="0" rtlCol="0" anchor="ctr"/>
          <a:lstStyle/>
          <a:p>
            <a:pPr algn="ctr" indent="0" marL="0">
              <a:lnSpc>
                <a:spcPct val="100000"/>
              </a:lnSpc>
              <a:buNone/>
            </a:pPr>
            <a:r>
              <a:rPr lang="en-US" sz="2100" dirty="0">
                <a:solidFill>
                  <a:srgbClr val="000000"/>
                </a:solidFill>
                <a:latin typeface="Instrument Sans SemiBold" pitchFamily="34" charset="0"/>
                <a:ea typeface="Instrument Sans SemiBold" pitchFamily="34" charset="-122"/>
                <a:cs typeface="Instrument Sans SemiBold" pitchFamily="34" charset="-120"/>
              </a:rPr>
              <a:t>5</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611584"/>
            <a:ext cx="1195854" cy="229691"/>
          </a:xfrm>
          <a:prstGeom prst="roundRect">
            <a:avLst>
              <a:gd name="adj" fmla="val 22120"/>
            </a:avLst>
          </a:prstGeom>
          <a:solidFill>
            <a:srgbClr val="333A33"/>
          </a:solidFill>
          <a:ln/>
        </p:spPr>
      </p:sp>
      <p:sp>
        <p:nvSpPr>
          <p:cNvPr id="3" name="Shape 1"/>
          <p:cNvSpPr/>
          <p:nvPr/>
        </p:nvSpPr>
        <p:spPr>
          <a:xfrm>
            <a:off x="752159" y="665956"/>
            <a:ext cx="120945" cy="120948"/>
          </a:xfrm>
          <a:prstGeom prst="rect">
            <a:avLst/>
          </a:prstGeom>
          <a:solidFill>
            <a:srgbClr val="FFFFFF"/>
          </a:solidFill>
          <a:ln/>
        </p:spPr>
      </p:sp>
      <p:sp>
        <p:nvSpPr>
          <p:cNvPr id="4" name="Text 2"/>
          <p:cNvSpPr/>
          <p:nvPr/>
        </p:nvSpPr>
        <p:spPr>
          <a:xfrm>
            <a:off x="933526" y="656927"/>
            <a:ext cx="1442704" cy="139005"/>
          </a:xfrm>
          <a:prstGeom prst="rect">
            <a:avLst/>
          </a:prstGeom>
          <a:noFill/>
          <a:ln/>
        </p:spPr>
        <p:txBody>
          <a:bodyPr wrap="none" lIns="0" tIns="0" rIns="0" bIns="0" rtlCol="0" anchor="t"/>
          <a:lstStyle/>
          <a:p>
            <a:pPr algn="l" indent="0" marL="0">
              <a:lnSpc>
                <a:spcPct val="96000"/>
              </a:lnSpc>
              <a:buNone/>
            </a:pPr>
            <a:r>
              <a:rPr lang="en-US" sz="950" dirty="0">
                <a:solidFill>
                  <a:srgbClr val="FFFFFF"/>
                </a:solidFill>
                <a:latin typeface="Instrument Sans" pitchFamily="34" charset="0"/>
                <a:ea typeface="Instrument Sans" pitchFamily="34" charset="-122"/>
                <a:cs typeface="Instrument Sans" pitchFamily="34" charset="-120"/>
              </a:rPr>
              <a:t>DATA SOURCE</a:t>
            </a:r>
            <a:endParaRPr lang="en-US" sz="950" dirty="0"/>
          </a:p>
        </p:txBody>
      </p:sp>
      <p:sp>
        <p:nvSpPr>
          <p:cNvPr id="5" name="Text 3"/>
          <p:cNvSpPr/>
          <p:nvPr/>
        </p:nvSpPr>
        <p:spPr>
          <a:xfrm>
            <a:off x="661475" y="889595"/>
            <a:ext cx="10868745" cy="378023"/>
          </a:xfrm>
          <a:prstGeom prst="rect">
            <a:avLst/>
          </a:prstGeom>
          <a:noFill/>
          <a:ln/>
        </p:spPr>
        <p:txBody>
          <a:bodyPr wrap="none" lIns="0" tIns="0" rIns="0" bIns="0" rtlCol="0" anchor="t"/>
          <a:lstStyle/>
          <a:p>
            <a:pPr algn="l" indent="0" marL="0">
              <a:lnSpc>
                <a:spcPct val="83000"/>
              </a:lnSpc>
              <a:buNone/>
            </a:pPr>
            <a:r>
              <a:rPr lang="en-US" sz="2950" dirty="0">
                <a:solidFill>
                  <a:srgbClr val="FFFFFF"/>
                </a:solidFill>
                <a:latin typeface="Instrument Sans SemiBold" pitchFamily="34" charset="0"/>
                <a:ea typeface="Instrument Sans SemiBold" pitchFamily="34" charset="-122"/>
                <a:cs typeface="Instrument Sans SemiBold" pitchFamily="34" charset="-120"/>
              </a:rPr>
              <a:t>Dataset Description</a:t>
            </a:r>
            <a:endParaRPr lang="en-US" sz="2950" dirty="0"/>
          </a:p>
        </p:txBody>
      </p:sp>
      <p:sp>
        <p:nvSpPr>
          <p:cNvPr id="6" name="Text 4"/>
          <p:cNvSpPr/>
          <p:nvPr/>
        </p:nvSpPr>
        <p:spPr>
          <a:xfrm>
            <a:off x="661475" y="1448991"/>
            <a:ext cx="11478330" cy="190500"/>
          </a:xfrm>
          <a:prstGeom prst="rect">
            <a:avLst/>
          </a:prstGeom>
          <a:noFill/>
          <a:ln/>
        </p:spPr>
        <p:txBody>
          <a:bodyPr wrap="none" lIns="0" tIns="0" rIns="0" bIns="0" rtlCol="0" anchor="t"/>
          <a:lstStyle/>
          <a:p>
            <a:pPr algn="l" indent="0" marL="0">
              <a:lnSpc>
                <a:spcPct val="105000"/>
              </a:lnSpc>
              <a:buNone/>
            </a:pPr>
            <a:endParaRPr lang="en-US" sz="1150" dirty="0"/>
          </a:p>
        </p:txBody>
      </p:sp>
      <p:pic>
        <p:nvPicPr>
          <p:cNvPr id="7" name="Image 0" descr="preencoded.png">    </p:cNvPr>
          <p:cNvPicPr>
            <a:picLocks noChangeAspect="1"/>
          </p:cNvPicPr>
          <p:nvPr/>
        </p:nvPicPr>
        <p:blipFill>
          <a:blip r:embed="rId1"/>
          <a:stretch>
            <a:fillRect/>
          </a:stretch>
        </p:blipFill>
        <p:spPr>
          <a:xfrm>
            <a:off x="1540829" y="1911548"/>
            <a:ext cx="866158" cy="1374378"/>
          </a:xfrm>
          <a:prstGeom prst="rect">
            <a:avLst/>
          </a:prstGeom>
        </p:spPr>
      </p:pic>
      <p:sp>
        <p:nvSpPr>
          <p:cNvPr id="8" name="Text 5"/>
          <p:cNvSpPr/>
          <p:nvPr/>
        </p:nvSpPr>
        <p:spPr>
          <a:xfrm>
            <a:off x="1867548" y="2675830"/>
            <a:ext cx="212620" cy="212626"/>
          </a:xfrm>
          <a:prstGeom prst="rect">
            <a:avLst/>
          </a:prstGeom>
          <a:noFill/>
          <a:ln/>
        </p:spPr>
        <p:txBody>
          <a:bodyPr wrap="none" lIns="0" tIns="0" rIns="0" bIns="0" rtlCol="0" anchor="ctr"/>
          <a:lstStyle/>
          <a:p>
            <a:pPr algn="ctr" indent="0" marL="0">
              <a:lnSpc>
                <a:spcPct val="100000"/>
              </a:lnSpc>
              <a:buNone/>
            </a:pPr>
            <a:r>
              <a:rPr lang="en-US" sz="1650" dirty="0">
                <a:solidFill>
                  <a:srgbClr val="000000"/>
                </a:solidFill>
                <a:latin typeface="Instrument Sans SemiBold" pitchFamily="34" charset="0"/>
                <a:ea typeface="Instrument Sans SemiBold" pitchFamily="34" charset="-122"/>
                <a:cs typeface="Instrument Sans SemiBold" pitchFamily="34" charset="-120"/>
              </a:rPr>
              <a:t>1</a:t>
            </a:r>
            <a:endParaRPr lang="en-US" sz="1650" dirty="0"/>
          </a:p>
        </p:txBody>
      </p:sp>
      <p:sp>
        <p:nvSpPr>
          <p:cNvPr id="9" name="Text 6"/>
          <p:cNvSpPr/>
          <p:nvPr/>
        </p:nvSpPr>
        <p:spPr>
          <a:xfrm>
            <a:off x="2558192" y="2158008"/>
            <a:ext cx="3202007" cy="189012"/>
          </a:xfrm>
          <a:prstGeom prst="rect">
            <a:avLst/>
          </a:prstGeom>
          <a:noFill/>
          <a:ln/>
        </p:spPr>
        <p:txBody>
          <a:bodyPr wrap="none" lIns="0" tIns="0" rIns="0" bIns="0" rtlCol="0" anchor="t"/>
          <a:lstStyle/>
          <a:p>
            <a:pPr algn="l" indent="0" marL="0">
              <a:lnSpc>
                <a:spcPct val="83000"/>
              </a:lnSpc>
              <a:buNone/>
            </a:pPr>
            <a:r>
              <a:rPr lang="en-US" sz="1450" dirty="0">
                <a:solidFill>
                  <a:srgbClr val="E5E0DF"/>
                </a:solidFill>
                <a:latin typeface="Instrument Sans SemiBold" pitchFamily="34" charset="0"/>
                <a:ea typeface="Instrument Sans SemiBold" pitchFamily="34" charset="-122"/>
                <a:cs typeface="Instrument Sans SemiBold" pitchFamily="34" charset="-120"/>
              </a:rPr>
              <a:t>Purchase Details</a:t>
            </a:r>
            <a:endParaRPr lang="en-US" sz="1450" dirty="0"/>
          </a:p>
        </p:txBody>
      </p:sp>
      <p:sp>
        <p:nvSpPr>
          <p:cNvPr id="10" name="Text 7"/>
          <p:cNvSpPr/>
          <p:nvPr/>
        </p:nvSpPr>
        <p:spPr>
          <a:xfrm>
            <a:off x="2558192" y="2467967"/>
            <a:ext cx="3202007" cy="571500"/>
          </a:xfrm>
          <a:prstGeom prst="rect">
            <a:avLst/>
          </a:prstGeom>
          <a:noFill/>
          <a:ln/>
        </p:spPr>
        <p:txBody>
          <a:bodyPr wrap="square" lIns="0" tIns="0" rIns="0" bIns="0" rtlCol="0" anchor="t">
            <a:normAutofit/>
          </a:bodyPr>
          <a:lstStyle/>
          <a:p>
            <a:pPr algn="l" indent="0" marL="0">
              <a:lnSpc>
                <a:spcPct val="105000"/>
              </a:lnSpc>
              <a:buNone/>
            </a:pPr>
            <a:r>
              <a:rPr lang="en-US" sz="1150" dirty="0">
                <a:solidFill>
                  <a:srgbClr val="E5E0DF"/>
                </a:solidFill>
                <a:latin typeface="Instrument Sans" pitchFamily="34" charset="0"/>
                <a:ea typeface="Instrument Sans" pitchFamily="34" charset="-122"/>
                <a:cs typeface="Instrument Sans" pitchFamily="34" charset="-120"/>
              </a:rPr>
              <a:t>Purchase Amount, Quantity Purchased, Payment Method, and Purchase Date capture every transaction.</a:t>
            </a:r>
            <a:endParaRPr lang="en-US" sz="1150" dirty="0"/>
          </a:p>
        </p:txBody>
      </p:sp>
      <p:sp>
        <p:nvSpPr>
          <p:cNvPr id="11" name="Shape 8"/>
          <p:cNvSpPr/>
          <p:nvPr/>
        </p:nvSpPr>
        <p:spPr>
          <a:xfrm>
            <a:off x="2444788" y="3296841"/>
            <a:ext cx="3428815" cy="9525"/>
          </a:xfrm>
          <a:prstGeom prst="roundRect">
            <a:avLst>
              <a:gd name="adj" fmla="val 666774"/>
            </a:avLst>
          </a:prstGeom>
          <a:solidFill>
            <a:srgbClr val="32CD32"/>
          </a:solidFill>
          <a:ln/>
        </p:spPr>
      </p:sp>
      <p:pic>
        <p:nvPicPr>
          <p:cNvPr id="12" name="Image 1" descr="preencoded.png">    </p:cNvPr>
          <p:cNvPicPr>
            <a:picLocks noChangeAspect="1"/>
          </p:cNvPicPr>
          <p:nvPr/>
        </p:nvPicPr>
        <p:blipFill>
          <a:blip r:embed="rId2"/>
          <a:stretch>
            <a:fillRect/>
          </a:stretch>
        </p:blipFill>
        <p:spPr>
          <a:xfrm>
            <a:off x="1107650" y="3323729"/>
            <a:ext cx="1732415" cy="1374378"/>
          </a:xfrm>
          <a:prstGeom prst="rect">
            <a:avLst/>
          </a:prstGeom>
        </p:spPr>
      </p:pic>
      <p:sp>
        <p:nvSpPr>
          <p:cNvPr id="13" name="Text 9"/>
          <p:cNvSpPr/>
          <p:nvPr/>
        </p:nvSpPr>
        <p:spPr>
          <a:xfrm>
            <a:off x="1867548" y="3904555"/>
            <a:ext cx="212620" cy="212626"/>
          </a:xfrm>
          <a:prstGeom prst="rect">
            <a:avLst/>
          </a:prstGeom>
          <a:noFill/>
          <a:ln/>
        </p:spPr>
        <p:txBody>
          <a:bodyPr wrap="none" lIns="0" tIns="0" rIns="0" bIns="0" rtlCol="0" anchor="ctr"/>
          <a:lstStyle/>
          <a:p>
            <a:pPr algn="ctr" indent="0" marL="0">
              <a:lnSpc>
                <a:spcPct val="100000"/>
              </a:lnSpc>
              <a:buNone/>
            </a:pPr>
            <a:r>
              <a:rPr lang="en-US" sz="1650" dirty="0">
                <a:solidFill>
                  <a:srgbClr val="000000"/>
                </a:solidFill>
                <a:latin typeface="Instrument Sans SemiBold" pitchFamily="34" charset="0"/>
                <a:ea typeface="Instrument Sans SemiBold" pitchFamily="34" charset="-122"/>
                <a:cs typeface="Instrument Sans SemiBold" pitchFamily="34" charset="-120"/>
              </a:rPr>
              <a:t>2</a:t>
            </a:r>
            <a:endParaRPr lang="en-US" sz="1650" dirty="0"/>
          </a:p>
        </p:txBody>
      </p:sp>
      <p:sp>
        <p:nvSpPr>
          <p:cNvPr id="14" name="Text 10"/>
          <p:cNvSpPr/>
          <p:nvPr/>
        </p:nvSpPr>
        <p:spPr>
          <a:xfrm>
            <a:off x="2991271" y="3570188"/>
            <a:ext cx="2768928" cy="189012"/>
          </a:xfrm>
          <a:prstGeom prst="rect">
            <a:avLst/>
          </a:prstGeom>
          <a:noFill/>
          <a:ln/>
        </p:spPr>
        <p:txBody>
          <a:bodyPr wrap="none" lIns="0" tIns="0" rIns="0" bIns="0" rtlCol="0" anchor="t"/>
          <a:lstStyle/>
          <a:p>
            <a:pPr algn="l" indent="0" marL="0">
              <a:lnSpc>
                <a:spcPct val="83000"/>
              </a:lnSpc>
              <a:buNone/>
            </a:pPr>
            <a:r>
              <a:rPr lang="en-US" sz="1450" dirty="0">
                <a:solidFill>
                  <a:srgbClr val="E5E0DF"/>
                </a:solidFill>
                <a:latin typeface="Instrument Sans SemiBold" pitchFamily="34" charset="0"/>
                <a:ea typeface="Instrument Sans SemiBold" pitchFamily="34" charset="-122"/>
                <a:cs typeface="Instrument Sans SemiBold" pitchFamily="34" charset="-120"/>
              </a:rPr>
              <a:t>Customer Profile</a:t>
            </a:r>
            <a:endParaRPr lang="en-US" sz="1450" dirty="0"/>
          </a:p>
        </p:txBody>
      </p:sp>
      <p:sp>
        <p:nvSpPr>
          <p:cNvPr id="15" name="Text 11"/>
          <p:cNvSpPr/>
          <p:nvPr/>
        </p:nvSpPr>
        <p:spPr>
          <a:xfrm>
            <a:off x="2991271" y="3880148"/>
            <a:ext cx="2768928" cy="571500"/>
          </a:xfrm>
          <a:prstGeom prst="rect">
            <a:avLst/>
          </a:prstGeom>
          <a:noFill/>
          <a:ln/>
        </p:spPr>
        <p:txBody>
          <a:bodyPr wrap="square" lIns="0" tIns="0" rIns="0" bIns="0" rtlCol="0" anchor="t">
            <a:normAutofit/>
          </a:bodyPr>
          <a:lstStyle/>
          <a:p>
            <a:pPr algn="l" indent="0" marL="0">
              <a:lnSpc>
                <a:spcPct val="105000"/>
              </a:lnSpc>
              <a:buNone/>
            </a:pPr>
            <a:r>
              <a:rPr lang="en-US" sz="1150" dirty="0">
                <a:solidFill>
                  <a:srgbClr val="E5E0DF"/>
                </a:solidFill>
                <a:latin typeface="Instrument Sans" pitchFamily="34" charset="0"/>
                <a:ea typeface="Instrument Sans" pitchFamily="34" charset="-122"/>
                <a:cs typeface="Instrument Sans" pitchFamily="34" charset="-120"/>
              </a:rPr>
              <a:t>Customer ID, Age, and Gender form the demographic backbone for segmentation and pattern analysis.</a:t>
            </a:r>
            <a:endParaRPr lang="en-US" sz="1150" dirty="0"/>
          </a:p>
        </p:txBody>
      </p:sp>
      <p:sp>
        <p:nvSpPr>
          <p:cNvPr id="16" name="Shape 12"/>
          <p:cNvSpPr/>
          <p:nvPr/>
        </p:nvSpPr>
        <p:spPr>
          <a:xfrm>
            <a:off x="2877867" y="4709021"/>
            <a:ext cx="2995736" cy="9525"/>
          </a:xfrm>
          <a:prstGeom prst="roundRect">
            <a:avLst>
              <a:gd name="adj" fmla="val 666774"/>
            </a:avLst>
          </a:prstGeom>
          <a:solidFill>
            <a:srgbClr val="32CD32"/>
          </a:solidFill>
          <a:ln/>
        </p:spPr>
      </p:sp>
      <p:pic>
        <p:nvPicPr>
          <p:cNvPr id="17" name="Image 2" descr="preencoded.png">    </p:cNvPr>
          <p:cNvPicPr>
            <a:picLocks noChangeAspect="1"/>
          </p:cNvPicPr>
          <p:nvPr/>
        </p:nvPicPr>
        <p:blipFill>
          <a:blip r:embed="rId3"/>
          <a:stretch>
            <a:fillRect/>
          </a:stretch>
        </p:blipFill>
        <p:spPr>
          <a:xfrm>
            <a:off x="674571" y="4735909"/>
            <a:ext cx="2598672" cy="1374378"/>
          </a:xfrm>
          <a:prstGeom prst="rect">
            <a:avLst/>
          </a:prstGeom>
        </p:spPr>
      </p:pic>
      <p:sp>
        <p:nvSpPr>
          <p:cNvPr id="18" name="Text 13"/>
          <p:cNvSpPr/>
          <p:nvPr/>
        </p:nvSpPr>
        <p:spPr>
          <a:xfrm>
            <a:off x="1867548" y="5316736"/>
            <a:ext cx="212620" cy="212626"/>
          </a:xfrm>
          <a:prstGeom prst="rect">
            <a:avLst/>
          </a:prstGeom>
          <a:noFill/>
          <a:ln/>
        </p:spPr>
        <p:txBody>
          <a:bodyPr wrap="none" lIns="0" tIns="0" rIns="0" bIns="0" rtlCol="0" anchor="ctr"/>
          <a:lstStyle/>
          <a:p>
            <a:pPr algn="ctr" indent="0" marL="0">
              <a:lnSpc>
                <a:spcPct val="100000"/>
              </a:lnSpc>
              <a:buNone/>
            </a:pPr>
            <a:r>
              <a:rPr lang="en-US" sz="1650" dirty="0">
                <a:solidFill>
                  <a:srgbClr val="000000"/>
                </a:solidFill>
                <a:latin typeface="Instrument Sans SemiBold" pitchFamily="34" charset="0"/>
                <a:ea typeface="Instrument Sans SemiBold" pitchFamily="34" charset="-122"/>
                <a:cs typeface="Instrument Sans SemiBold" pitchFamily="34" charset="-120"/>
              </a:rPr>
              <a:t>3</a:t>
            </a:r>
            <a:endParaRPr lang="en-US" sz="1650" dirty="0"/>
          </a:p>
        </p:txBody>
      </p:sp>
      <p:sp>
        <p:nvSpPr>
          <p:cNvPr id="19" name="Text 14"/>
          <p:cNvSpPr/>
          <p:nvPr/>
        </p:nvSpPr>
        <p:spPr>
          <a:xfrm>
            <a:off x="3424449" y="4887119"/>
            <a:ext cx="2335749" cy="189012"/>
          </a:xfrm>
          <a:prstGeom prst="rect">
            <a:avLst/>
          </a:prstGeom>
          <a:noFill/>
          <a:ln/>
        </p:spPr>
        <p:txBody>
          <a:bodyPr wrap="none" lIns="0" tIns="0" rIns="0" bIns="0" rtlCol="0" anchor="t"/>
          <a:lstStyle/>
          <a:p>
            <a:pPr algn="l" indent="0" marL="0">
              <a:lnSpc>
                <a:spcPct val="83000"/>
              </a:lnSpc>
              <a:buNone/>
            </a:pPr>
            <a:r>
              <a:rPr lang="en-US" sz="1450" dirty="0">
                <a:solidFill>
                  <a:srgbClr val="E5E0DF"/>
                </a:solidFill>
                <a:latin typeface="Instrument Sans SemiBold" pitchFamily="34" charset="0"/>
                <a:ea typeface="Instrument Sans SemiBold" pitchFamily="34" charset="-122"/>
                <a:cs typeface="Instrument Sans SemiBold" pitchFamily="34" charset="-120"/>
              </a:rPr>
              <a:t>Location &amp; Context</a:t>
            </a:r>
            <a:endParaRPr lang="en-US" sz="1450" dirty="0"/>
          </a:p>
        </p:txBody>
      </p:sp>
      <p:sp>
        <p:nvSpPr>
          <p:cNvPr id="20" name="Text 15"/>
          <p:cNvSpPr/>
          <p:nvPr/>
        </p:nvSpPr>
        <p:spPr>
          <a:xfrm>
            <a:off x="3424449" y="5197078"/>
            <a:ext cx="2335749" cy="762000"/>
          </a:xfrm>
          <a:prstGeom prst="rect">
            <a:avLst/>
          </a:prstGeom>
          <a:noFill/>
          <a:ln/>
        </p:spPr>
        <p:txBody>
          <a:bodyPr wrap="square" lIns="0" tIns="0" rIns="0" bIns="0" rtlCol="0" anchor="t">
            <a:normAutofit/>
          </a:bodyPr>
          <a:lstStyle/>
          <a:p>
            <a:pPr algn="l" indent="0" marL="0">
              <a:lnSpc>
                <a:spcPct val="105000"/>
              </a:lnSpc>
              <a:buNone/>
            </a:pPr>
            <a:r>
              <a:rPr lang="en-US" sz="1150" dirty="0">
                <a:solidFill>
                  <a:srgbClr val="E5E0DF"/>
                </a:solidFill>
                <a:latin typeface="Instrument Sans" pitchFamily="34" charset="0"/>
                <a:ea typeface="Instrument Sans" pitchFamily="34" charset="-122"/>
                <a:cs typeface="Instrument Sans" pitchFamily="34" charset="-120"/>
              </a:rPr>
              <a:t>Shopping Mall/Store and Customer Location provide geographic and contextual dimension to each record.</a:t>
            </a:r>
            <a:endParaRPr lang="en-US" sz="1150" dirty="0"/>
          </a:p>
        </p:txBody>
      </p:sp>
      <p:sp>
        <p:nvSpPr>
          <p:cNvPr id="21" name="Text 16"/>
          <p:cNvSpPr/>
          <p:nvPr/>
        </p:nvSpPr>
        <p:spPr>
          <a:xfrm>
            <a:off x="6286640" y="1896467"/>
            <a:ext cx="5249930" cy="189012"/>
          </a:xfrm>
          <a:prstGeom prst="rect">
            <a:avLst/>
          </a:prstGeom>
          <a:noFill/>
          <a:ln/>
        </p:spPr>
        <p:txBody>
          <a:bodyPr wrap="none" lIns="0" tIns="0" rIns="0" bIns="0" rtlCol="0" anchor="t"/>
          <a:lstStyle/>
          <a:p>
            <a:pPr algn="l" indent="0" marL="0">
              <a:lnSpc>
                <a:spcPct val="83000"/>
              </a:lnSpc>
              <a:buNone/>
            </a:pPr>
            <a:r>
              <a:rPr lang="en-US" sz="1450" dirty="0">
                <a:solidFill>
                  <a:srgbClr val="FFFFFF"/>
                </a:solidFill>
                <a:latin typeface="Instrument Sans SemiBold" pitchFamily="34" charset="0"/>
                <a:ea typeface="Instrument Sans SemiBold" pitchFamily="34" charset="-122"/>
                <a:cs typeface="Instrument Sans SemiBold" pitchFamily="34" charset="-120"/>
              </a:rPr>
              <a:t>What the Dataset Contains</a:t>
            </a:r>
            <a:endParaRPr lang="en-US" sz="1450" dirty="0"/>
          </a:p>
        </p:txBody>
      </p:sp>
      <p:sp>
        <p:nvSpPr>
          <p:cNvPr id="22" name="Text 17"/>
          <p:cNvSpPr/>
          <p:nvPr/>
        </p:nvSpPr>
        <p:spPr>
          <a:xfrm>
            <a:off x="6286640" y="2206427"/>
            <a:ext cx="5249930" cy="870843"/>
          </a:xfrm>
          <a:prstGeom prst="rect">
            <a:avLst/>
          </a:prstGeom>
          <a:noFill/>
          <a:ln/>
        </p:spPr>
        <p:txBody>
          <a:bodyPr wrap="square" lIns="0" tIns="0" rIns="0" bIns="0" rtlCol="0" anchor="t">
            <a:normAutofit/>
          </a:bodyPr>
          <a:lstStyle/>
          <a:p>
            <a:pPr algn="l" indent="0" marL="0">
              <a:lnSpc>
                <a:spcPct val="105000"/>
              </a:lnSpc>
              <a:spcAft>
                <a:spcPts val="850"/>
              </a:spcAft>
              <a:buNone/>
            </a:pPr>
            <a:r>
              <a:rPr lang="en-US" sz="1150" dirty="0">
                <a:solidFill>
                  <a:srgbClr val="E5E0DF"/>
                </a:solidFill>
                <a:latin typeface="Instrument Sans" pitchFamily="34" charset="0"/>
                <a:ea typeface="Instrument Sans" pitchFamily="34" charset="-122"/>
                <a:cs typeface="Instrument Sans" pitchFamily="34" charset="-120"/>
              </a:rPr>
              <a:t>The dataset holds comprehensive customer shopping records spanning multiple dimensions of the purchasing journey — from who the customer is, to where they shop, what they buy, how they pay, and when they transact.</a:t>
            </a:r>
            <a:endParaRPr lang="en-US" sz="1150" dirty="0"/>
          </a:p>
        </p:txBody>
      </p:sp>
      <p:sp>
        <p:nvSpPr>
          <p:cNvPr id="23" name="Text 18"/>
          <p:cNvSpPr/>
          <p:nvPr/>
        </p:nvSpPr>
        <p:spPr>
          <a:xfrm>
            <a:off x="6286640" y="3198217"/>
            <a:ext cx="5249930" cy="521692"/>
          </a:xfrm>
          <a:prstGeom prst="rect">
            <a:avLst/>
          </a:prstGeom>
          <a:noFill/>
          <a:ln/>
        </p:spPr>
        <p:txBody>
          <a:bodyPr wrap="none" lIns="0" tIns="0" rIns="0" bIns="0" rtlCol="0" anchor="t"/>
          <a:lstStyle/>
          <a:p>
            <a:pPr algn="l" indent="0" marL="0">
              <a:lnSpc>
                <a:spcPct val="83000"/>
              </a:lnSpc>
              <a:buNone/>
            </a:pPr>
            <a:r>
              <a:rPr lang="en-US" sz="4100" dirty="0">
                <a:solidFill>
                  <a:srgbClr val="000000"/>
                </a:solidFill>
                <a:highlight>
                  <a:srgbClr val="32CD32"/>
                </a:highlight>
                <a:latin typeface="Instrument Sans SemiBold" pitchFamily="34" charset="0"/>
                <a:ea typeface="Instrument Sans SemiBold" pitchFamily="34" charset="-122"/>
                <a:cs typeface="Instrument Sans SemiBold" pitchFamily="34" charset="-120"/>
              </a:rPr>
              <a:t> → 10 Fields </a:t>
            </a:r>
            <a:endParaRPr lang="en-US" sz="4100" dirty="0"/>
          </a:p>
        </p:txBody>
      </p:sp>
      <p:sp>
        <p:nvSpPr>
          <p:cNvPr id="24" name="Text 19"/>
          <p:cNvSpPr/>
          <p:nvPr/>
        </p:nvSpPr>
        <p:spPr>
          <a:xfrm>
            <a:off x="6286640" y="3840857"/>
            <a:ext cx="5249930" cy="489843"/>
          </a:xfrm>
          <a:prstGeom prst="rect">
            <a:avLst/>
          </a:prstGeom>
          <a:noFill/>
          <a:ln/>
        </p:spPr>
        <p:txBody>
          <a:bodyPr wrap="square" lIns="0" tIns="0" rIns="0" bIns="0" rtlCol="0" anchor="t"/>
          <a:lstStyle/>
          <a:p>
            <a:pPr algn="l" indent="0" marL="0">
              <a:lnSpc>
                <a:spcPct val="105000"/>
              </a:lnSpc>
              <a:spcAft>
                <a:spcPts val="850"/>
              </a:spcAft>
              <a:buNone/>
            </a:pPr>
            <a:r>
              <a:rPr lang="en-US" sz="1150" dirty="0">
                <a:solidFill>
                  <a:srgbClr val="E5E0DF"/>
                </a:solidFill>
                <a:latin typeface="Instrument Sans" pitchFamily="34" charset="0"/>
                <a:ea typeface="Instrument Sans" pitchFamily="34" charset="-122"/>
                <a:cs typeface="Instrument Sans" pitchFamily="34" charset="-120"/>
              </a:rPr>
              <a:t>Key data attributes per customer record</a:t>
            </a:r>
            <a:endParaRPr lang="en-US" sz="1150" dirty="0"/>
          </a:p>
        </p:txBody>
      </p:sp>
      <p:sp>
        <p:nvSpPr>
          <p:cNvPr id="25" name="Text 20"/>
          <p:cNvSpPr/>
          <p:nvPr/>
        </p:nvSpPr>
        <p:spPr>
          <a:xfrm>
            <a:off x="6286640" y="4451648"/>
            <a:ext cx="5249930" cy="189012"/>
          </a:xfrm>
          <a:prstGeom prst="rect">
            <a:avLst/>
          </a:prstGeom>
          <a:noFill/>
          <a:ln/>
        </p:spPr>
        <p:txBody>
          <a:bodyPr wrap="none" lIns="0" tIns="0" rIns="0" bIns="0" rtlCol="0" anchor="t"/>
          <a:lstStyle/>
          <a:p>
            <a:pPr algn="l" indent="0" marL="0">
              <a:lnSpc>
                <a:spcPct val="83000"/>
              </a:lnSpc>
              <a:buNone/>
            </a:pPr>
            <a:r>
              <a:rPr lang="en-US" sz="1450" dirty="0">
                <a:solidFill>
                  <a:srgbClr val="FFFFFF"/>
                </a:solidFill>
                <a:latin typeface="Instrument Sans SemiBold" pitchFamily="34" charset="0"/>
                <a:ea typeface="Instrument Sans SemiBold" pitchFamily="34" charset="-122"/>
                <a:cs typeface="Instrument Sans SemiBold" pitchFamily="34" charset="-120"/>
              </a:rPr>
              <a:t>Why It Matters</a:t>
            </a:r>
            <a:endParaRPr lang="en-US" sz="1450" dirty="0"/>
          </a:p>
        </p:txBody>
      </p:sp>
      <p:sp>
        <p:nvSpPr>
          <p:cNvPr id="26" name="Text 21"/>
          <p:cNvSpPr/>
          <p:nvPr/>
        </p:nvSpPr>
        <p:spPr>
          <a:xfrm>
            <a:off x="6286640" y="4761607"/>
            <a:ext cx="5249930" cy="762000"/>
          </a:xfrm>
          <a:prstGeom prst="rect">
            <a:avLst/>
          </a:prstGeom>
          <a:noFill/>
          <a:ln/>
        </p:spPr>
        <p:txBody>
          <a:bodyPr wrap="square" lIns="0" tIns="0" rIns="0" bIns="0" rtlCol="0" anchor="t">
            <a:normAutofit/>
          </a:bodyPr>
          <a:lstStyle/>
          <a:p>
            <a:pPr algn="l" indent="0" marL="0">
              <a:lnSpc>
                <a:spcPct val="105000"/>
              </a:lnSpc>
              <a:buNone/>
            </a:pPr>
            <a:r>
              <a:rPr lang="en-US" sz="1150" dirty="0">
                <a:solidFill>
                  <a:srgbClr val="E5E0DF"/>
                </a:solidFill>
                <a:latin typeface="Instrument Sans" pitchFamily="34" charset="0"/>
                <a:ea typeface="Instrument Sans" pitchFamily="34" charset="-122"/>
                <a:cs typeface="Instrument Sans" pitchFamily="34" charset="-120"/>
              </a:rPr>
              <a:t>This richness of information across demographic, product, and transactional dimensions enables identification of meaningful buying patterns, customer preferences, and actionable segmentation opportunities for targeted business strategy.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65547"/>
            <a:ext cx="6296860" cy="472579"/>
          </a:xfrm>
          <a:prstGeom prst="rect">
            <a:avLst/>
          </a:prstGeom>
          <a:noFill/>
          <a:ln/>
        </p:spPr>
        <p:txBody>
          <a:bodyPr wrap="none" lIns="0" tIns="0" rIns="0" bIns="0" rtlCol="0" anchor="t"/>
          <a:lstStyle/>
          <a:p>
            <a:pPr algn="l" indent="0" marL="0">
              <a:lnSpc>
                <a:spcPct val="83000"/>
              </a:lnSpc>
              <a:buNone/>
            </a:pPr>
            <a:r>
              <a:rPr lang="en-US" sz="3700" dirty="0">
                <a:solidFill>
                  <a:srgbClr val="FFFFFF"/>
                </a:solidFill>
                <a:latin typeface="Instrument Sans SemiBold" pitchFamily="34" charset="0"/>
                <a:ea typeface="Instrument Sans SemiBold" pitchFamily="34" charset="-122"/>
                <a:cs typeface="Instrument Sans SemiBold" pitchFamily="34" charset="-120"/>
              </a:rPr>
              <a:t>Tools &amp; Technologies</a:t>
            </a:r>
            <a:endParaRPr lang="en-US" sz="3700" dirty="0"/>
          </a:p>
        </p:txBody>
      </p:sp>
      <p:sp>
        <p:nvSpPr>
          <p:cNvPr id="4" name="Shape 1"/>
          <p:cNvSpPr/>
          <p:nvPr/>
        </p:nvSpPr>
        <p:spPr>
          <a:xfrm>
            <a:off x="5445981" y="1321594"/>
            <a:ext cx="25399" cy="4970760"/>
          </a:xfrm>
          <a:prstGeom prst="roundRect">
            <a:avLst>
              <a:gd name="adj" fmla="val 312562"/>
            </a:avLst>
          </a:prstGeom>
          <a:solidFill>
            <a:srgbClr val="FFFFFF">
              <a:alpha val="24000"/>
            </a:srgbClr>
          </a:solidFill>
          <a:ln/>
        </p:spPr>
      </p:sp>
      <p:sp>
        <p:nvSpPr>
          <p:cNvPr id="5" name="Shape 2"/>
          <p:cNvSpPr/>
          <p:nvPr/>
        </p:nvSpPr>
        <p:spPr>
          <a:xfrm>
            <a:off x="5633202" y="1521520"/>
            <a:ext cx="567021" cy="25400"/>
          </a:xfrm>
          <a:prstGeom prst="roundRect">
            <a:avLst>
              <a:gd name="adj" fmla="val 312550"/>
            </a:avLst>
          </a:prstGeom>
          <a:solidFill>
            <a:srgbClr val="18B318"/>
          </a:solidFill>
          <a:ln/>
        </p:spPr>
      </p:sp>
      <p:sp>
        <p:nvSpPr>
          <p:cNvPr id="6" name="Shape 3"/>
          <p:cNvSpPr/>
          <p:nvPr/>
        </p:nvSpPr>
        <p:spPr>
          <a:xfrm>
            <a:off x="5233360" y="1321594"/>
            <a:ext cx="425241" cy="425252"/>
          </a:xfrm>
          <a:prstGeom prst="roundRect">
            <a:avLst>
              <a:gd name="adj" fmla="val 18669"/>
            </a:avLst>
          </a:prstGeom>
          <a:solidFill>
            <a:srgbClr val="32CD32"/>
          </a:solidFill>
          <a:ln/>
        </p:spPr>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4251" y="1392486"/>
            <a:ext cx="283461" cy="283468"/>
          </a:xfrm>
          <a:prstGeom prst="rect">
            <a:avLst/>
          </a:prstGeom>
        </p:spPr>
      </p:pic>
      <p:sp>
        <p:nvSpPr>
          <p:cNvPr id="8" name="Text 4"/>
          <p:cNvSpPr/>
          <p:nvPr/>
        </p:nvSpPr>
        <p:spPr>
          <a:xfrm>
            <a:off x="6391016" y="1416050"/>
            <a:ext cx="5139204" cy="236240"/>
          </a:xfrm>
          <a:prstGeom prst="rect">
            <a:avLst/>
          </a:prstGeom>
          <a:noFill/>
          <a:ln/>
        </p:spPr>
        <p:txBody>
          <a:bodyPr wrap="none" lIns="0" tIns="0" rIns="0" bIns="0" rtlCol="0" anchor="t"/>
          <a:lstStyle/>
          <a:p>
            <a:pPr algn="l" indent="0" marL="0">
              <a:lnSpc>
                <a:spcPct val="83000"/>
              </a:lnSpc>
              <a:buNone/>
            </a:pPr>
            <a:r>
              <a:rPr lang="en-US" sz="1850" dirty="0">
                <a:solidFill>
                  <a:srgbClr val="E5E0DF"/>
                </a:solidFill>
                <a:latin typeface="Instrument Sans SemiBold" pitchFamily="34" charset="0"/>
                <a:ea typeface="Instrument Sans SemiBold" pitchFamily="34" charset="-122"/>
                <a:cs typeface="Instrument Sans SemiBold" pitchFamily="34" charset="-120"/>
              </a:rPr>
              <a:t>Data Processing — Python, Pandas &amp; NumPy</a:t>
            </a:r>
            <a:endParaRPr lang="en-US" sz="1850" dirty="0"/>
          </a:p>
        </p:txBody>
      </p:sp>
      <p:sp>
        <p:nvSpPr>
          <p:cNvPr id="9" name="Text 5"/>
          <p:cNvSpPr/>
          <p:nvPr/>
        </p:nvSpPr>
        <p:spPr>
          <a:xfrm>
            <a:off x="6391016" y="1765697"/>
            <a:ext cx="5139204" cy="793849"/>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E5E0DF"/>
                </a:solidFill>
                <a:latin typeface="Instrument Sans" pitchFamily="34" charset="0"/>
                <a:ea typeface="Instrument Sans" pitchFamily="34" charset="-122"/>
                <a:cs typeface="Instrument Sans" pitchFamily="34" charset="-120"/>
              </a:rPr>
              <a:t>Python powers the entire analytics pipeline. Pandas and NumPy handle data ingestion, cleaning, transformation, and statistical computation across all customer records.</a:t>
            </a:r>
            <a:endParaRPr lang="en-US" sz="1450" dirty="0"/>
          </a:p>
        </p:txBody>
      </p:sp>
      <p:sp>
        <p:nvSpPr>
          <p:cNvPr id="10" name="Shape 6"/>
          <p:cNvSpPr/>
          <p:nvPr/>
        </p:nvSpPr>
        <p:spPr>
          <a:xfrm>
            <a:off x="5633202" y="3137495"/>
            <a:ext cx="567021" cy="25400"/>
          </a:xfrm>
          <a:prstGeom prst="roundRect">
            <a:avLst>
              <a:gd name="adj" fmla="val 312550"/>
            </a:avLst>
          </a:prstGeom>
          <a:solidFill>
            <a:srgbClr val="18B318"/>
          </a:solidFill>
          <a:ln/>
        </p:spPr>
      </p:sp>
      <p:sp>
        <p:nvSpPr>
          <p:cNvPr id="11" name="Shape 7"/>
          <p:cNvSpPr/>
          <p:nvPr/>
        </p:nvSpPr>
        <p:spPr>
          <a:xfrm>
            <a:off x="5233360" y="2937570"/>
            <a:ext cx="425241" cy="425252"/>
          </a:xfrm>
          <a:prstGeom prst="roundRect">
            <a:avLst>
              <a:gd name="adj" fmla="val 18669"/>
            </a:avLst>
          </a:prstGeom>
          <a:solidFill>
            <a:srgbClr val="32CD32"/>
          </a:solidFill>
          <a:ln/>
        </p:spPr>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04251" y="3008461"/>
            <a:ext cx="283461" cy="283468"/>
          </a:xfrm>
          <a:prstGeom prst="rect">
            <a:avLst/>
          </a:prstGeom>
        </p:spPr>
      </p:pic>
      <p:sp>
        <p:nvSpPr>
          <p:cNvPr id="13" name="Text 8"/>
          <p:cNvSpPr/>
          <p:nvPr/>
        </p:nvSpPr>
        <p:spPr>
          <a:xfrm>
            <a:off x="6391016" y="3032026"/>
            <a:ext cx="5139204" cy="236240"/>
          </a:xfrm>
          <a:prstGeom prst="rect">
            <a:avLst/>
          </a:prstGeom>
          <a:noFill/>
          <a:ln/>
        </p:spPr>
        <p:txBody>
          <a:bodyPr wrap="none" lIns="0" tIns="0" rIns="0" bIns="0" rtlCol="0" anchor="t"/>
          <a:lstStyle/>
          <a:p>
            <a:pPr algn="l" indent="0" marL="0">
              <a:lnSpc>
                <a:spcPct val="83000"/>
              </a:lnSpc>
              <a:buNone/>
            </a:pPr>
            <a:r>
              <a:rPr lang="en-US" sz="1850" dirty="0">
                <a:solidFill>
                  <a:srgbClr val="E5E0DF"/>
                </a:solidFill>
                <a:latin typeface="Instrument Sans SemiBold" pitchFamily="34" charset="0"/>
                <a:ea typeface="Instrument Sans SemiBold" pitchFamily="34" charset="-122"/>
                <a:cs typeface="Instrument Sans SemiBold" pitchFamily="34" charset="-120"/>
              </a:rPr>
              <a:t>Visualization — Matplotlib &amp; Power BI</a:t>
            </a:r>
            <a:endParaRPr lang="en-US" sz="1850" dirty="0"/>
          </a:p>
        </p:txBody>
      </p:sp>
      <p:sp>
        <p:nvSpPr>
          <p:cNvPr id="14" name="Text 9"/>
          <p:cNvSpPr/>
          <p:nvPr/>
        </p:nvSpPr>
        <p:spPr>
          <a:xfrm>
            <a:off x="6391016" y="3381673"/>
            <a:ext cx="5139204" cy="793849"/>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E5E0DF"/>
                </a:solidFill>
                <a:latin typeface="Instrument Sans" pitchFamily="34" charset="0"/>
                <a:ea typeface="Instrument Sans" pitchFamily="34" charset="-122"/>
                <a:cs typeface="Instrument Sans" pitchFamily="34" charset="-120"/>
              </a:rPr>
              <a:t>Matplotlib enables exploratory charting in Python, while Power BI delivers interactive dashboards with slicers, filters, and KPI visuals for business stakeholders.</a:t>
            </a:r>
            <a:endParaRPr lang="en-US" sz="1450" dirty="0"/>
          </a:p>
        </p:txBody>
      </p:sp>
      <p:sp>
        <p:nvSpPr>
          <p:cNvPr id="15" name="Shape 10"/>
          <p:cNvSpPr/>
          <p:nvPr/>
        </p:nvSpPr>
        <p:spPr>
          <a:xfrm>
            <a:off x="5633202" y="4753471"/>
            <a:ext cx="567021" cy="25400"/>
          </a:xfrm>
          <a:prstGeom prst="roundRect">
            <a:avLst>
              <a:gd name="adj" fmla="val 312550"/>
            </a:avLst>
          </a:prstGeom>
          <a:solidFill>
            <a:srgbClr val="18B318"/>
          </a:solidFill>
          <a:ln/>
        </p:spPr>
      </p:sp>
      <p:sp>
        <p:nvSpPr>
          <p:cNvPr id="16" name="Shape 11"/>
          <p:cNvSpPr/>
          <p:nvPr/>
        </p:nvSpPr>
        <p:spPr>
          <a:xfrm>
            <a:off x="5233360" y="4553545"/>
            <a:ext cx="425241" cy="425252"/>
          </a:xfrm>
          <a:prstGeom prst="roundRect">
            <a:avLst>
              <a:gd name="adj" fmla="val 18669"/>
            </a:avLst>
          </a:prstGeom>
          <a:solidFill>
            <a:srgbClr val="32CD32"/>
          </a:solidFill>
          <a:ln/>
        </p:spPr>
      </p:sp>
      <p:pic>
        <p:nvPicPr>
          <p:cNvPr id="1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04251" y="4624437"/>
            <a:ext cx="283461" cy="283468"/>
          </a:xfrm>
          <a:prstGeom prst="rect">
            <a:avLst/>
          </a:prstGeom>
        </p:spPr>
      </p:pic>
      <p:sp>
        <p:nvSpPr>
          <p:cNvPr id="18" name="Text 12"/>
          <p:cNvSpPr/>
          <p:nvPr/>
        </p:nvSpPr>
        <p:spPr>
          <a:xfrm>
            <a:off x="6391016" y="4648002"/>
            <a:ext cx="5139204" cy="472480"/>
          </a:xfrm>
          <a:prstGeom prst="rect">
            <a:avLst/>
          </a:prstGeom>
          <a:noFill/>
          <a:ln/>
        </p:spPr>
        <p:txBody>
          <a:bodyPr wrap="square" lIns="0" tIns="0" rIns="0" bIns="0" rtlCol="0" anchor="t">
            <a:normAutofit/>
          </a:bodyPr>
          <a:lstStyle/>
          <a:p>
            <a:pPr algn="l" indent="0" marL="0">
              <a:lnSpc>
                <a:spcPct val="83000"/>
              </a:lnSpc>
              <a:buNone/>
            </a:pPr>
            <a:r>
              <a:rPr lang="en-US" sz="1850" dirty="0">
                <a:solidFill>
                  <a:srgbClr val="E5E0DF"/>
                </a:solidFill>
                <a:latin typeface="Instrument Sans SemiBold" pitchFamily="34" charset="0"/>
                <a:ea typeface="Instrument Sans SemiBold" pitchFamily="34" charset="-122"/>
                <a:cs typeface="Instrument Sans SemiBold" pitchFamily="34" charset="-120"/>
              </a:rPr>
              <a:t>Database &amp; Reporting — SQL (MySQL) &amp; Excel</a:t>
            </a:r>
            <a:endParaRPr lang="en-US" sz="1850" dirty="0"/>
          </a:p>
        </p:txBody>
      </p:sp>
      <p:sp>
        <p:nvSpPr>
          <p:cNvPr id="19" name="Text 13"/>
          <p:cNvSpPr/>
          <p:nvPr/>
        </p:nvSpPr>
        <p:spPr>
          <a:xfrm>
            <a:off x="6391016" y="5233888"/>
            <a:ext cx="5139204" cy="1058466"/>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E5E0DF"/>
                </a:solidFill>
                <a:latin typeface="Instrument Sans" pitchFamily="34" charset="0"/>
                <a:ea typeface="Instrument Sans" pitchFamily="34" charset="-122"/>
                <a:cs typeface="Instrument Sans" pitchFamily="34" charset="-120"/>
              </a:rPr>
              <a:t>MySQL handles structured querying for aggregations, segmentation, and revenue analysis. Excel supports auxiliary reporting, and Gamma AI powers the presentation layer.</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651073"/>
            <a:ext cx="10868745" cy="441920"/>
          </a:xfrm>
          <a:prstGeom prst="rect">
            <a:avLst/>
          </a:prstGeom>
          <a:noFill/>
          <a:ln/>
        </p:spPr>
        <p:txBody>
          <a:bodyPr wrap="none" lIns="0" tIns="0" rIns="0" bIns="0" rtlCol="0" anchor="t"/>
          <a:lstStyle/>
          <a:p>
            <a:pPr algn="l" indent="0" marL="0">
              <a:lnSpc>
                <a:spcPct val="83000"/>
              </a:lnSpc>
              <a:buNone/>
            </a:pPr>
            <a:r>
              <a:rPr lang="en-US" sz="3450" dirty="0">
                <a:solidFill>
                  <a:srgbClr val="FFFFFF"/>
                </a:solidFill>
                <a:latin typeface="Instrument Sans SemiBold" pitchFamily="34" charset="0"/>
                <a:ea typeface="Instrument Sans SemiBold" pitchFamily="34" charset="-122"/>
                <a:cs typeface="Instrument Sans SemiBold" pitchFamily="34" charset="-120"/>
              </a:rPr>
              <a:t>Data Analysis Process</a:t>
            </a:r>
            <a:endParaRPr lang="en-US" sz="3450" dirty="0"/>
          </a:p>
        </p:txBody>
      </p:sp>
      <p:sp>
        <p:nvSpPr>
          <p:cNvPr id="3" name="Text 1"/>
          <p:cNvSpPr/>
          <p:nvPr/>
        </p:nvSpPr>
        <p:spPr>
          <a:xfrm>
            <a:off x="661475" y="1423591"/>
            <a:ext cx="11478330" cy="239415"/>
          </a:xfrm>
          <a:prstGeom prst="rect">
            <a:avLst/>
          </a:prstGeom>
          <a:noFill/>
          <a:ln/>
        </p:spPr>
        <p:txBody>
          <a:bodyPr wrap="none" lIns="0" tIns="0" rIns="0" bIns="0" rtlCol="0" anchor="t"/>
          <a:lstStyle/>
          <a:p>
            <a:pPr algn="l" indent="0" marL="0">
              <a:lnSpc>
                <a:spcPct val="113000"/>
              </a:lnSpc>
              <a:buNone/>
            </a:pPr>
            <a:r>
              <a:rPr lang="en-US" sz="1350" dirty="0">
                <a:solidFill>
                  <a:srgbClr val="E5E0DF"/>
                </a:solidFill>
                <a:latin typeface="Instrument Sans" pitchFamily="34" charset="0"/>
                <a:ea typeface="Instrument Sans" pitchFamily="34" charset="-122"/>
                <a:cs typeface="Instrument Sans" pitchFamily="34" charset="-120"/>
              </a:rPr>
              <a:t>A structured seven-stage workflow transforms raw shopping data into clear, actionable business intelligence.</a:t>
            </a:r>
            <a:endParaRPr lang="en-US" sz="1350" dirty="0"/>
          </a:p>
        </p:txBody>
      </p:sp>
      <p:sp>
        <p:nvSpPr>
          <p:cNvPr id="4" name="Text 2"/>
          <p:cNvSpPr/>
          <p:nvPr/>
        </p:nvSpPr>
        <p:spPr>
          <a:xfrm>
            <a:off x="661475" y="1997670"/>
            <a:ext cx="5218776" cy="478830"/>
          </a:xfrm>
          <a:prstGeom prst="rect">
            <a:avLst/>
          </a:prstGeom>
          <a:noFill/>
          <a:ln/>
        </p:spPr>
        <p:txBody>
          <a:bodyPr wrap="square" lIns="0" tIns="0" rIns="0" bIns="0" rtlCol="0" anchor="t">
            <a:normAutofit/>
          </a:bodyPr>
          <a:lstStyle/>
          <a:p>
            <a:pPr algn="l" indent="0" marL="0">
              <a:lnSpc>
                <a:spcPct val="113000"/>
              </a:lnSpc>
              <a:buNone/>
            </a:pPr>
            <a:r>
              <a:rPr lang="en-US" sz="1350" dirty="0">
                <a:solidFill>
                  <a:srgbClr val="E5E0DF"/>
                </a:solidFill>
                <a:latin typeface="Instrument Sans" pitchFamily="34" charset="0"/>
                <a:ea typeface="Instrument Sans" pitchFamily="34" charset="-122"/>
                <a:cs typeface="Instrument Sans" pitchFamily="34" charset="-120"/>
              </a:rPr>
              <a:t>Each stage of the pipeline builds on the last, ensuring data quality and analytical rigor before insights are surfaced.</a:t>
            </a:r>
            <a:endParaRPr lang="en-US" sz="1350" dirty="0"/>
          </a:p>
        </p:txBody>
      </p:sp>
      <p:pic>
        <p:nvPicPr>
          <p:cNvPr id="5" name="Image 0" descr="preencoded.png">    </p:cNvPr>
          <p:cNvPicPr>
            <a:picLocks noChangeAspect="1"/>
          </p:cNvPicPr>
          <p:nvPr/>
        </p:nvPicPr>
        <p:blipFill>
          <a:blip r:embed="rId1"/>
          <a:stretch>
            <a:fillRect/>
          </a:stretch>
        </p:blipFill>
        <p:spPr>
          <a:xfrm>
            <a:off x="791944" y="2662436"/>
            <a:ext cx="4957837" cy="1311870"/>
          </a:xfrm>
          <a:prstGeom prst="rect">
            <a:avLst/>
          </a:prstGeom>
        </p:spPr>
      </p:pic>
      <p:sp>
        <p:nvSpPr>
          <p:cNvPr id="6" name="Text 3"/>
          <p:cNvSpPr/>
          <p:nvPr/>
        </p:nvSpPr>
        <p:spPr>
          <a:xfrm>
            <a:off x="1174433" y="3106005"/>
            <a:ext cx="749403" cy="214696"/>
          </a:xfrm>
          <a:prstGeom prst="rect">
            <a:avLst/>
          </a:prstGeom>
          <a:noFill/>
          <a:ln/>
        </p:spPr>
        <p:txBody>
          <a:bodyPr wrap="square" lIns="0" tIns="0" rIns="0" bIns="0" rtlCol="0" anchor="t">
            <a:normAutofit/>
          </a:bodyPr>
          <a:lstStyle/>
          <a:p>
            <a:pPr algn="ctr" indent="0" marL="0">
              <a:lnSpc>
                <a:spcPct val="83000"/>
              </a:lnSpc>
              <a:buNone/>
            </a:pPr>
            <a:r>
              <a:rPr lang="en-US" sz="800" dirty="0">
                <a:solidFill>
                  <a:srgbClr val="FFFFFF"/>
                </a:solidFill>
                <a:latin typeface="Instrument Sans SemiBold" pitchFamily="34" charset="0"/>
                <a:ea typeface="Instrument Sans SemiBold" pitchFamily="34" charset="-122"/>
                <a:cs typeface="Instrument Sans SemiBold" pitchFamily="34" charset="-120"/>
              </a:rPr>
              <a:t>Data Collection</a:t>
            </a:r>
            <a:endParaRPr lang="en-US" sz="800" dirty="0"/>
          </a:p>
        </p:txBody>
      </p:sp>
      <p:sp>
        <p:nvSpPr>
          <p:cNvPr id="7" name="Text 4"/>
          <p:cNvSpPr/>
          <p:nvPr/>
        </p:nvSpPr>
        <p:spPr>
          <a:xfrm>
            <a:off x="1174433" y="3358869"/>
            <a:ext cx="749403" cy="311533"/>
          </a:xfrm>
          <a:prstGeom prst="rect">
            <a:avLst/>
          </a:prstGeom>
          <a:noFill/>
          <a:ln/>
        </p:spPr>
        <p:txBody>
          <a:bodyPr wrap="square" lIns="0" tIns="0" rIns="0" bIns="0" rtlCol="0" anchor="t">
            <a:normAutofit/>
          </a:bodyPr>
          <a:lstStyle/>
          <a:p>
            <a:pPr algn="ctr" indent="0" marL="0">
              <a:lnSpc>
                <a:spcPct val="101000"/>
              </a:lnSpc>
              <a:buNone/>
            </a:pPr>
            <a:r>
              <a:rPr lang="en-US" sz="650" dirty="0">
                <a:solidFill>
                  <a:srgbClr val="E5E0DF"/>
                </a:solidFill>
                <a:latin typeface="Instrument Sans" pitchFamily="34" charset="0"/>
                <a:ea typeface="Instrument Sans" pitchFamily="34" charset="-122"/>
                <a:cs typeface="Instrument Sans" pitchFamily="34" charset="-120"/>
              </a:rPr>
              <a:t>Gather raw shopping data sources</a:t>
            </a:r>
            <a:endParaRPr lang="en-US" sz="650" dirty="0"/>
          </a:p>
        </p:txBody>
      </p:sp>
      <p:sp>
        <p:nvSpPr>
          <p:cNvPr id="8" name="Text 5"/>
          <p:cNvSpPr/>
          <p:nvPr/>
        </p:nvSpPr>
        <p:spPr>
          <a:xfrm>
            <a:off x="2033194" y="3073577"/>
            <a:ext cx="749404" cy="107348"/>
          </a:xfrm>
          <a:prstGeom prst="rect">
            <a:avLst/>
          </a:prstGeom>
          <a:noFill/>
          <a:ln/>
        </p:spPr>
        <p:txBody>
          <a:bodyPr wrap="none" lIns="0" tIns="0" rIns="0" bIns="0" rtlCol="0" anchor="t"/>
          <a:lstStyle/>
          <a:p>
            <a:pPr algn="ctr" indent="0" marL="0">
              <a:lnSpc>
                <a:spcPct val="83000"/>
              </a:lnSpc>
              <a:buNone/>
            </a:pPr>
            <a:r>
              <a:rPr lang="en-US" sz="800" dirty="0">
                <a:solidFill>
                  <a:srgbClr val="FFFFFF"/>
                </a:solidFill>
                <a:latin typeface="Instrument Sans SemiBold" pitchFamily="34" charset="0"/>
                <a:ea typeface="Instrument Sans SemiBold" pitchFamily="34" charset="-122"/>
                <a:cs typeface="Instrument Sans SemiBold" pitchFamily="34" charset="-120"/>
              </a:rPr>
              <a:t>Data Cleaning</a:t>
            </a:r>
            <a:endParaRPr lang="en-US" sz="800" dirty="0"/>
          </a:p>
        </p:txBody>
      </p:sp>
      <p:sp>
        <p:nvSpPr>
          <p:cNvPr id="9" name="Text 6"/>
          <p:cNvSpPr/>
          <p:nvPr/>
        </p:nvSpPr>
        <p:spPr>
          <a:xfrm>
            <a:off x="2033194" y="3219093"/>
            <a:ext cx="749404" cy="311533"/>
          </a:xfrm>
          <a:prstGeom prst="rect">
            <a:avLst/>
          </a:prstGeom>
          <a:noFill/>
          <a:ln/>
        </p:spPr>
        <p:txBody>
          <a:bodyPr wrap="square" lIns="0" tIns="0" rIns="0" bIns="0" rtlCol="0" anchor="t">
            <a:normAutofit/>
          </a:bodyPr>
          <a:lstStyle/>
          <a:p>
            <a:pPr algn="ctr" indent="0" marL="0">
              <a:lnSpc>
                <a:spcPct val="101000"/>
              </a:lnSpc>
              <a:buNone/>
            </a:pPr>
            <a:r>
              <a:rPr lang="en-US" sz="650" dirty="0">
                <a:solidFill>
                  <a:srgbClr val="E5E0DF"/>
                </a:solidFill>
                <a:latin typeface="Instrument Sans" pitchFamily="34" charset="0"/>
                <a:ea typeface="Instrument Sans" pitchFamily="34" charset="-122"/>
                <a:cs typeface="Instrument Sans" pitchFamily="34" charset="-120"/>
              </a:rPr>
              <a:t>Remove errors and standardize records</a:t>
            </a:r>
            <a:endParaRPr lang="en-US" sz="650" dirty="0"/>
          </a:p>
        </p:txBody>
      </p:sp>
      <p:sp>
        <p:nvSpPr>
          <p:cNvPr id="10" name="Text 7"/>
          <p:cNvSpPr/>
          <p:nvPr/>
        </p:nvSpPr>
        <p:spPr>
          <a:xfrm>
            <a:off x="2891956" y="3106005"/>
            <a:ext cx="749403" cy="214696"/>
          </a:xfrm>
          <a:prstGeom prst="rect">
            <a:avLst/>
          </a:prstGeom>
          <a:noFill/>
          <a:ln/>
        </p:spPr>
        <p:txBody>
          <a:bodyPr wrap="square" lIns="0" tIns="0" rIns="0" bIns="0" rtlCol="0" anchor="t">
            <a:normAutofit/>
          </a:bodyPr>
          <a:lstStyle/>
          <a:p>
            <a:pPr algn="ctr" indent="0" marL="0">
              <a:lnSpc>
                <a:spcPct val="83000"/>
              </a:lnSpc>
              <a:buNone/>
            </a:pPr>
            <a:r>
              <a:rPr lang="en-US" sz="800" dirty="0">
                <a:solidFill>
                  <a:srgbClr val="FFFFFF"/>
                </a:solidFill>
                <a:latin typeface="Instrument Sans SemiBold" pitchFamily="34" charset="0"/>
                <a:ea typeface="Instrument Sans SemiBold" pitchFamily="34" charset="-122"/>
                <a:cs typeface="Instrument Sans SemiBold" pitchFamily="34" charset="-120"/>
              </a:rPr>
              <a:t>Exploratory Analysis</a:t>
            </a:r>
            <a:endParaRPr lang="en-US" sz="800" dirty="0"/>
          </a:p>
        </p:txBody>
      </p:sp>
      <p:sp>
        <p:nvSpPr>
          <p:cNvPr id="11" name="Text 8"/>
          <p:cNvSpPr/>
          <p:nvPr/>
        </p:nvSpPr>
        <p:spPr>
          <a:xfrm>
            <a:off x="2891956" y="3358869"/>
            <a:ext cx="749403" cy="207688"/>
          </a:xfrm>
          <a:prstGeom prst="rect">
            <a:avLst/>
          </a:prstGeom>
          <a:noFill/>
          <a:ln/>
        </p:spPr>
        <p:txBody>
          <a:bodyPr wrap="square" lIns="0" tIns="0" rIns="0" bIns="0" rtlCol="0" anchor="t">
            <a:normAutofit/>
          </a:bodyPr>
          <a:lstStyle/>
          <a:p>
            <a:pPr algn="ctr" indent="0" marL="0">
              <a:lnSpc>
                <a:spcPct val="101000"/>
              </a:lnSpc>
              <a:buNone/>
            </a:pPr>
            <a:r>
              <a:rPr lang="en-US" sz="650" dirty="0">
                <a:solidFill>
                  <a:srgbClr val="E5E0DF"/>
                </a:solidFill>
                <a:latin typeface="Instrument Sans" pitchFamily="34" charset="0"/>
                <a:ea typeface="Instrument Sans" pitchFamily="34" charset="-122"/>
                <a:cs typeface="Instrument Sans" pitchFamily="34" charset="-120"/>
              </a:rPr>
              <a:t>Identify patterns and anomalies</a:t>
            </a:r>
            <a:endParaRPr lang="en-US" sz="650" dirty="0"/>
          </a:p>
        </p:txBody>
      </p:sp>
      <p:sp>
        <p:nvSpPr>
          <p:cNvPr id="12" name="Text 9"/>
          <p:cNvSpPr/>
          <p:nvPr/>
        </p:nvSpPr>
        <p:spPr>
          <a:xfrm>
            <a:off x="3750717" y="3073577"/>
            <a:ext cx="749403" cy="107348"/>
          </a:xfrm>
          <a:prstGeom prst="rect">
            <a:avLst/>
          </a:prstGeom>
          <a:noFill/>
          <a:ln/>
        </p:spPr>
        <p:txBody>
          <a:bodyPr wrap="none" lIns="0" tIns="0" rIns="0" bIns="0" rtlCol="0" anchor="t"/>
          <a:lstStyle/>
          <a:p>
            <a:pPr algn="ctr" indent="0" marL="0">
              <a:lnSpc>
                <a:spcPct val="83000"/>
              </a:lnSpc>
              <a:buNone/>
            </a:pPr>
            <a:r>
              <a:rPr lang="en-US" sz="800" dirty="0">
                <a:solidFill>
                  <a:srgbClr val="FFFFFF"/>
                </a:solidFill>
                <a:latin typeface="Instrument Sans SemiBold" pitchFamily="34" charset="0"/>
                <a:ea typeface="Instrument Sans SemiBold" pitchFamily="34" charset="-122"/>
                <a:cs typeface="Instrument Sans SemiBold" pitchFamily="34" charset="-120"/>
              </a:rPr>
              <a:t>SQL Queries</a:t>
            </a:r>
            <a:endParaRPr lang="en-US" sz="800" dirty="0"/>
          </a:p>
        </p:txBody>
      </p:sp>
      <p:sp>
        <p:nvSpPr>
          <p:cNvPr id="13" name="Text 10"/>
          <p:cNvSpPr/>
          <p:nvPr/>
        </p:nvSpPr>
        <p:spPr>
          <a:xfrm>
            <a:off x="3750717" y="3219093"/>
            <a:ext cx="749403" cy="311533"/>
          </a:xfrm>
          <a:prstGeom prst="rect">
            <a:avLst/>
          </a:prstGeom>
          <a:noFill/>
          <a:ln/>
        </p:spPr>
        <p:txBody>
          <a:bodyPr wrap="square" lIns="0" tIns="0" rIns="0" bIns="0" rtlCol="0" anchor="t">
            <a:normAutofit/>
          </a:bodyPr>
          <a:lstStyle/>
          <a:p>
            <a:pPr algn="ctr" indent="0" marL="0">
              <a:lnSpc>
                <a:spcPct val="101000"/>
              </a:lnSpc>
              <a:buNone/>
            </a:pPr>
            <a:r>
              <a:rPr lang="en-US" sz="650" dirty="0">
                <a:solidFill>
                  <a:srgbClr val="E5E0DF"/>
                </a:solidFill>
                <a:latin typeface="Instrument Sans" pitchFamily="34" charset="0"/>
                <a:ea typeface="Instrument Sans" pitchFamily="34" charset="-122"/>
                <a:cs typeface="Instrument Sans" pitchFamily="34" charset="-120"/>
              </a:rPr>
              <a:t>Transform and aggregate datasets</a:t>
            </a:r>
            <a:endParaRPr lang="en-US" sz="650" dirty="0"/>
          </a:p>
        </p:txBody>
      </p:sp>
      <p:sp>
        <p:nvSpPr>
          <p:cNvPr id="14" name="Text 11"/>
          <p:cNvSpPr/>
          <p:nvPr/>
        </p:nvSpPr>
        <p:spPr>
          <a:xfrm>
            <a:off x="4614249" y="3106005"/>
            <a:ext cx="749403" cy="107348"/>
          </a:xfrm>
          <a:prstGeom prst="rect">
            <a:avLst/>
          </a:prstGeom>
          <a:noFill/>
          <a:ln/>
        </p:spPr>
        <p:txBody>
          <a:bodyPr wrap="none" lIns="0" tIns="0" rIns="0" bIns="0" rtlCol="0" anchor="t"/>
          <a:lstStyle/>
          <a:p>
            <a:pPr algn="ctr" indent="0" marL="0">
              <a:lnSpc>
                <a:spcPct val="83000"/>
              </a:lnSpc>
              <a:buNone/>
            </a:pPr>
            <a:r>
              <a:rPr lang="en-US" sz="800" dirty="0">
                <a:solidFill>
                  <a:srgbClr val="FFFFFF"/>
                </a:solidFill>
                <a:latin typeface="Instrument Sans SemiBold" pitchFamily="34" charset="0"/>
                <a:ea typeface="Instrument Sans SemiBold" pitchFamily="34" charset="-122"/>
                <a:cs typeface="Instrument Sans SemiBold" pitchFamily="34" charset="-120"/>
              </a:rPr>
              <a:t>Visualization</a:t>
            </a:r>
            <a:endParaRPr lang="en-US" sz="800" dirty="0"/>
          </a:p>
        </p:txBody>
      </p:sp>
      <p:sp>
        <p:nvSpPr>
          <p:cNvPr id="15" name="Text 12"/>
          <p:cNvSpPr/>
          <p:nvPr/>
        </p:nvSpPr>
        <p:spPr>
          <a:xfrm>
            <a:off x="4614249" y="3251521"/>
            <a:ext cx="749403" cy="207688"/>
          </a:xfrm>
          <a:prstGeom prst="rect">
            <a:avLst/>
          </a:prstGeom>
          <a:noFill/>
          <a:ln/>
        </p:spPr>
        <p:txBody>
          <a:bodyPr wrap="square" lIns="0" tIns="0" rIns="0" bIns="0" rtlCol="0" anchor="t">
            <a:normAutofit/>
          </a:bodyPr>
          <a:lstStyle/>
          <a:p>
            <a:pPr algn="ctr" indent="0" marL="0">
              <a:lnSpc>
                <a:spcPct val="101000"/>
              </a:lnSpc>
              <a:buNone/>
            </a:pPr>
            <a:r>
              <a:rPr lang="en-US" sz="650" dirty="0">
                <a:solidFill>
                  <a:srgbClr val="E5E0DF"/>
                </a:solidFill>
                <a:latin typeface="Instrument Sans" pitchFamily="34" charset="0"/>
                <a:ea typeface="Instrument Sans" pitchFamily="34" charset="-122"/>
                <a:cs typeface="Instrument Sans" pitchFamily="34" charset="-120"/>
              </a:rPr>
              <a:t>Create charts to reveal trends</a:t>
            </a:r>
            <a:endParaRPr lang="en-US" sz="650" dirty="0"/>
          </a:p>
        </p:txBody>
      </p:sp>
      <p:sp>
        <p:nvSpPr>
          <p:cNvPr id="16" name="Text 13"/>
          <p:cNvSpPr/>
          <p:nvPr/>
        </p:nvSpPr>
        <p:spPr>
          <a:xfrm>
            <a:off x="661475" y="4160242"/>
            <a:ext cx="5218776" cy="718245"/>
          </a:xfrm>
          <a:prstGeom prst="rect">
            <a:avLst/>
          </a:prstGeom>
          <a:noFill/>
          <a:ln/>
        </p:spPr>
        <p:txBody>
          <a:bodyPr wrap="square" lIns="0" tIns="0" rIns="0" bIns="0" rtlCol="0" anchor="t">
            <a:normAutofit/>
          </a:bodyPr>
          <a:lstStyle/>
          <a:p>
            <a:pPr algn="l" indent="0" marL="0">
              <a:lnSpc>
                <a:spcPct val="113000"/>
              </a:lnSpc>
              <a:buNone/>
            </a:pPr>
            <a:r>
              <a:rPr lang="en-US" sz="1350" dirty="0">
                <a:solidFill>
                  <a:srgbClr val="E5E0DF"/>
                </a:solidFill>
                <a:latin typeface="Instrument Sans" pitchFamily="34" charset="0"/>
                <a:ea typeface="Instrument Sans" pitchFamily="34" charset="-122"/>
                <a:cs typeface="Instrument Sans" pitchFamily="34" charset="-120"/>
              </a:rPr>
              <a:t>This end-to-end process ensures every business recommendation is grounded in clean, validated, and well-visualized data.</a:t>
            </a:r>
            <a:endParaRPr lang="en-US" sz="1350" dirty="0"/>
          </a:p>
        </p:txBody>
      </p:sp>
      <p:sp>
        <p:nvSpPr>
          <p:cNvPr id="17" name="Shape 14"/>
          <p:cNvSpPr/>
          <p:nvPr/>
        </p:nvSpPr>
        <p:spPr>
          <a:xfrm>
            <a:off x="6317794" y="2034877"/>
            <a:ext cx="707015" cy="1218505"/>
          </a:xfrm>
          <a:prstGeom prst="roundRect">
            <a:avLst>
              <a:gd name="adj" fmla="val 360017"/>
            </a:avLst>
          </a:prstGeom>
          <a:solidFill>
            <a:srgbClr val="32CD32"/>
          </a:solidFill>
          <a:ln/>
        </p:spPr>
      </p:sp>
      <p:pic>
        <p:nvPicPr>
          <p:cNvPr id="1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38749" y="2511524"/>
            <a:ext cx="265106" cy="265113"/>
          </a:xfrm>
          <a:prstGeom prst="rect">
            <a:avLst/>
          </a:prstGeom>
        </p:spPr>
      </p:pic>
      <p:sp>
        <p:nvSpPr>
          <p:cNvPr id="19" name="Text 15"/>
          <p:cNvSpPr/>
          <p:nvPr/>
        </p:nvSpPr>
        <p:spPr>
          <a:xfrm>
            <a:off x="7190104" y="2211586"/>
            <a:ext cx="4346466" cy="220960"/>
          </a:xfrm>
          <a:prstGeom prst="rect">
            <a:avLst/>
          </a:prstGeom>
          <a:noFill/>
          <a:ln/>
        </p:spPr>
        <p:txBody>
          <a:bodyPr wrap="none" lIns="0" tIns="0" rIns="0" bIns="0" rtlCol="0" anchor="t"/>
          <a:lstStyle/>
          <a:p>
            <a:pPr algn="l" indent="0" marL="0">
              <a:lnSpc>
                <a:spcPct val="83000"/>
              </a:lnSpc>
              <a:buNone/>
            </a:pPr>
            <a:r>
              <a:rPr lang="en-US" sz="1700" dirty="0">
                <a:solidFill>
                  <a:srgbClr val="E5E0DF"/>
                </a:solidFill>
                <a:latin typeface="Instrument Sans SemiBold" pitchFamily="34" charset="0"/>
                <a:ea typeface="Instrument Sans SemiBold" pitchFamily="34" charset="-122"/>
                <a:cs typeface="Instrument Sans SemiBold" pitchFamily="34" charset="-120"/>
              </a:rPr>
              <a:t>Collection &amp; Cleaning</a:t>
            </a:r>
            <a:endParaRPr lang="en-US" sz="1700" dirty="0"/>
          </a:p>
        </p:txBody>
      </p:sp>
      <p:sp>
        <p:nvSpPr>
          <p:cNvPr id="20" name="Text 16"/>
          <p:cNvSpPr/>
          <p:nvPr/>
        </p:nvSpPr>
        <p:spPr>
          <a:xfrm>
            <a:off x="7190104" y="2597845"/>
            <a:ext cx="4346466" cy="478830"/>
          </a:xfrm>
          <a:prstGeom prst="rect">
            <a:avLst/>
          </a:prstGeom>
          <a:noFill/>
          <a:ln/>
        </p:spPr>
        <p:txBody>
          <a:bodyPr wrap="square" lIns="0" tIns="0" rIns="0" bIns="0" rtlCol="0" anchor="t">
            <a:normAutofit/>
          </a:bodyPr>
          <a:lstStyle/>
          <a:p>
            <a:pPr algn="l" indent="0" marL="0">
              <a:lnSpc>
                <a:spcPct val="113000"/>
              </a:lnSpc>
              <a:buNone/>
            </a:pPr>
            <a:r>
              <a:rPr lang="en-US" sz="1350" dirty="0">
                <a:solidFill>
                  <a:srgbClr val="E5E0DF"/>
                </a:solidFill>
                <a:latin typeface="Instrument Sans" pitchFamily="34" charset="0"/>
                <a:ea typeface="Instrument Sans" pitchFamily="34" charset="-122"/>
                <a:cs typeface="Instrument Sans" pitchFamily="34" charset="-120"/>
              </a:rPr>
              <a:t>Raw shopping records are ingested and cleansed to remove duplicates, nulls, and inconsistencies.</a:t>
            </a:r>
            <a:endParaRPr lang="en-US" sz="1350" dirty="0"/>
          </a:p>
        </p:txBody>
      </p:sp>
      <p:sp>
        <p:nvSpPr>
          <p:cNvPr id="21" name="Shape 17"/>
          <p:cNvSpPr/>
          <p:nvPr/>
        </p:nvSpPr>
        <p:spPr>
          <a:xfrm>
            <a:off x="6317794" y="3418681"/>
            <a:ext cx="707015" cy="1218505"/>
          </a:xfrm>
          <a:prstGeom prst="roundRect">
            <a:avLst>
              <a:gd name="adj" fmla="val 360017"/>
            </a:avLst>
          </a:prstGeom>
          <a:solidFill>
            <a:srgbClr val="32CD32"/>
          </a:solidFill>
          <a:ln/>
        </p:spPr>
      </p:sp>
      <p:pic>
        <p:nvPicPr>
          <p:cNvPr id="2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38749" y="3895328"/>
            <a:ext cx="265106" cy="265113"/>
          </a:xfrm>
          <a:prstGeom prst="rect">
            <a:avLst/>
          </a:prstGeom>
        </p:spPr>
      </p:pic>
      <p:sp>
        <p:nvSpPr>
          <p:cNvPr id="23" name="Text 18"/>
          <p:cNvSpPr/>
          <p:nvPr/>
        </p:nvSpPr>
        <p:spPr>
          <a:xfrm>
            <a:off x="7190104" y="3595390"/>
            <a:ext cx="4346466" cy="220960"/>
          </a:xfrm>
          <a:prstGeom prst="rect">
            <a:avLst/>
          </a:prstGeom>
          <a:noFill/>
          <a:ln/>
        </p:spPr>
        <p:txBody>
          <a:bodyPr wrap="none" lIns="0" tIns="0" rIns="0" bIns="0" rtlCol="0" anchor="t"/>
          <a:lstStyle/>
          <a:p>
            <a:pPr algn="l" indent="0" marL="0">
              <a:lnSpc>
                <a:spcPct val="83000"/>
              </a:lnSpc>
              <a:buNone/>
            </a:pPr>
            <a:r>
              <a:rPr lang="en-US" sz="1700" dirty="0">
                <a:solidFill>
                  <a:srgbClr val="E5E0DF"/>
                </a:solidFill>
                <a:latin typeface="Instrument Sans SemiBold" pitchFamily="34" charset="0"/>
                <a:ea typeface="Instrument Sans SemiBold" pitchFamily="34" charset="-122"/>
                <a:cs typeface="Instrument Sans SemiBold" pitchFamily="34" charset="-120"/>
              </a:rPr>
              <a:t>EDA &amp; SQL Queries</a:t>
            </a:r>
            <a:endParaRPr lang="en-US" sz="1700" dirty="0"/>
          </a:p>
        </p:txBody>
      </p:sp>
      <p:sp>
        <p:nvSpPr>
          <p:cNvPr id="24" name="Text 19"/>
          <p:cNvSpPr/>
          <p:nvPr/>
        </p:nvSpPr>
        <p:spPr>
          <a:xfrm>
            <a:off x="7190104" y="3981648"/>
            <a:ext cx="4346466" cy="478830"/>
          </a:xfrm>
          <a:prstGeom prst="rect">
            <a:avLst/>
          </a:prstGeom>
          <a:noFill/>
          <a:ln/>
        </p:spPr>
        <p:txBody>
          <a:bodyPr wrap="square" lIns="0" tIns="0" rIns="0" bIns="0" rtlCol="0" anchor="t">
            <a:normAutofit/>
          </a:bodyPr>
          <a:lstStyle/>
          <a:p>
            <a:pPr algn="l" indent="0" marL="0">
              <a:lnSpc>
                <a:spcPct val="113000"/>
              </a:lnSpc>
              <a:buNone/>
            </a:pPr>
            <a:r>
              <a:rPr lang="en-US" sz="1350" dirty="0">
                <a:solidFill>
                  <a:srgbClr val="E5E0DF"/>
                </a:solidFill>
                <a:latin typeface="Instrument Sans" pitchFamily="34" charset="0"/>
                <a:ea typeface="Instrument Sans" pitchFamily="34" charset="-122"/>
                <a:cs typeface="Instrument Sans" pitchFamily="34" charset="-120"/>
              </a:rPr>
              <a:t>Statistical exploration and structured queries uncover distributions, trends, and segment-level patterns.</a:t>
            </a:r>
            <a:endParaRPr lang="en-US" sz="1350" dirty="0"/>
          </a:p>
        </p:txBody>
      </p:sp>
      <p:sp>
        <p:nvSpPr>
          <p:cNvPr id="25" name="Shape 20"/>
          <p:cNvSpPr/>
          <p:nvPr/>
        </p:nvSpPr>
        <p:spPr>
          <a:xfrm>
            <a:off x="6317794" y="4802485"/>
            <a:ext cx="707015" cy="1218505"/>
          </a:xfrm>
          <a:prstGeom prst="roundRect">
            <a:avLst>
              <a:gd name="adj" fmla="val 360017"/>
            </a:avLst>
          </a:prstGeom>
          <a:solidFill>
            <a:srgbClr val="32CD32"/>
          </a:solidFill>
          <a:ln/>
        </p:spPr>
      </p:sp>
      <p:pic>
        <p:nvPicPr>
          <p:cNvPr id="2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38749" y="5279132"/>
            <a:ext cx="265106" cy="265113"/>
          </a:xfrm>
          <a:prstGeom prst="rect">
            <a:avLst/>
          </a:prstGeom>
        </p:spPr>
      </p:pic>
      <p:sp>
        <p:nvSpPr>
          <p:cNvPr id="27" name="Text 21"/>
          <p:cNvSpPr/>
          <p:nvPr/>
        </p:nvSpPr>
        <p:spPr>
          <a:xfrm>
            <a:off x="7190104" y="4979194"/>
            <a:ext cx="4346466" cy="220960"/>
          </a:xfrm>
          <a:prstGeom prst="rect">
            <a:avLst/>
          </a:prstGeom>
          <a:noFill/>
          <a:ln/>
        </p:spPr>
        <p:txBody>
          <a:bodyPr wrap="none" lIns="0" tIns="0" rIns="0" bIns="0" rtlCol="0" anchor="t"/>
          <a:lstStyle/>
          <a:p>
            <a:pPr algn="l" indent="0" marL="0">
              <a:lnSpc>
                <a:spcPct val="83000"/>
              </a:lnSpc>
              <a:buNone/>
            </a:pPr>
            <a:r>
              <a:rPr lang="en-US" sz="1700" dirty="0">
                <a:solidFill>
                  <a:srgbClr val="E5E0DF"/>
                </a:solidFill>
                <a:latin typeface="Instrument Sans SemiBold" pitchFamily="34" charset="0"/>
                <a:ea typeface="Instrument Sans SemiBold" pitchFamily="34" charset="-122"/>
                <a:cs typeface="Instrument Sans SemiBold" pitchFamily="34" charset="-120"/>
              </a:rPr>
              <a:t>Visualization &amp; Insights</a:t>
            </a:r>
            <a:endParaRPr lang="en-US" sz="1700" dirty="0"/>
          </a:p>
        </p:txBody>
      </p:sp>
      <p:sp>
        <p:nvSpPr>
          <p:cNvPr id="28" name="Text 22"/>
          <p:cNvSpPr/>
          <p:nvPr/>
        </p:nvSpPr>
        <p:spPr>
          <a:xfrm>
            <a:off x="7190104" y="5365452"/>
            <a:ext cx="4346466" cy="478830"/>
          </a:xfrm>
          <a:prstGeom prst="rect">
            <a:avLst/>
          </a:prstGeom>
          <a:noFill/>
          <a:ln/>
        </p:spPr>
        <p:txBody>
          <a:bodyPr wrap="square" lIns="0" tIns="0" rIns="0" bIns="0" rtlCol="0" anchor="t">
            <a:normAutofit/>
          </a:bodyPr>
          <a:lstStyle/>
          <a:p>
            <a:pPr algn="l" indent="0" marL="0">
              <a:lnSpc>
                <a:spcPct val="113000"/>
              </a:lnSpc>
              <a:buNone/>
            </a:pPr>
            <a:r>
              <a:rPr lang="en-US" sz="1350" dirty="0">
                <a:solidFill>
                  <a:srgbClr val="E5E0DF"/>
                </a:solidFill>
                <a:latin typeface="Instrument Sans" pitchFamily="34" charset="0"/>
                <a:ea typeface="Instrument Sans" pitchFamily="34" charset="-122"/>
                <a:cs typeface="Instrument Sans" pitchFamily="34" charset="-120"/>
              </a:rPr>
              <a:t>Dashboards and charts communicate findings to stakeholders, driving targeted business decisions.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601166"/>
            <a:ext cx="10868745" cy="278408"/>
          </a:xfrm>
          <a:prstGeom prst="rect">
            <a:avLst/>
          </a:prstGeom>
          <a:noFill/>
          <a:ln/>
        </p:spPr>
        <p:txBody>
          <a:bodyPr wrap="none" lIns="0" tIns="0" rIns="0" bIns="0" rtlCol="0" anchor="t"/>
          <a:lstStyle/>
          <a:p>
            <a:pPr algn="l" indent="0" marL="0">
              <a:lnSpc>
                <a:spcPct val="83000"/>
              </a:lnSpc>
              <a:buNone/>
            </a:pPr>
            <a:r>
              <a:rPr lang="en-US" sz="2150" dirty="0">
                <a:solidFill>
                  <a:srgbClr val="FFFFFF"/>
                </a:solidFill>
                <a:latin typeface="Instrument Sans SemiBold" pitchFamily="34" charset="0"/>
                <a:ea typeface="Instrument Sans SemiBold" pitchFamily="34" charset="-122"/>
                <a:cs typeface="Instrument Sans SemiBold" pitchFamily="34" charset="-120"/>
              </a:rPr>
              <a:t>Exploratory Data Analysis &amp; SQL</a:t>
            </a:r>
            <a:endParaRPr lang="en-US" sz="2150" dirty="0"/>
          </a:p>
        </p:txBody>
      </p:sp>
      <p:sp>
        <p:nvSpPr>
          <p:cNvPr id="3" name="Text 1"/>
          <p:cNvSpPr/>
          <p:nvPr/>
        </p:nvSpPr>
        <p:spPr>
          <a:xfrm>
            <a:off x="1760692" y="1701502"/>
            <a:ext cx="1369482" cy="278408"/>
          </a:xfrm>
          <a:prstGeom prst="rect">
            <a:avLst/>
          </a:prstGeom>
          <a:noFill/>
          <a:ln/>
        </p:spPr>
        <p:txBody>
          <a:bodyPr wrap="none" lIns="0" tIns="0" rIns="0" bIns="0" rtlCol="0" anchor="t"/>
          <a:lstStyle/>
          <a:p>
            <a:pPr algn="ctr" indent="0" marL="0">
              <a:lnSpc>
                <a:spcPct val="83000"/>
              </a:lnSpc>
              <a:buNone/>
            </a:pPr>
            <a:r>
              <a:rPr lang="en-US" sz="2150" dirty="0">
                <a:solidFill>
                  <a:srgbClr val="E5E0DF"/>
                </a:solidFill>
                <a:latin typeface="Instrument Sans SemiBold" pitchFamily="34" charset="0"/>
                <a:ea typeface="Instrument Sans SemiBold" pitchFamily="34" charset="-122"/>
                <a:cs typeface="Instrument Sans SemiBold" pitchFamily="34" charset="-120"/>
              </a:rPr>
              <a:t>8</a:t>
            </a:r>
            <a:endParaRPr lang="en-US" sz="2150" dirty="0"/>
          </a:p>
        </p:txBody>
      </p:sp>
      <p:pic>
        <p:nvPicPr>
          <p:cNvPr id="4" name="Image 0" descr="preencoded.png">    </p:cNvPr>
          <p:cNvPicPr>
            <a:picLocks noChangeAspect="1"/>
          </p:cNvPicPr>
          <p:nvPr/>
        </p:nvPicPr>
        <p:blipFill>
          <a:blip r:embed="rId1"/>
          <a:stretch>
            <a:fillRect/>
          </a:stretch>
        </p:blipFill>
        <p:spPr>
          <a:xfrm>
            <a:off x="1610478" y="1005681"/>
            <a:ext cx="1670107" cy="1670149"/>
          </a:xfrm>
          <a:prstGeom prst="rect">
            <a:avLst/>
          </a:prstGeom>
        </p:spPr>
      </p:pic>
      <p:sp>
        <p:nvSpPr>
          <p:cNvPr id="5" name="Text 2"/>
          <p:cNvSpPr/>
          <p:nvPr/>
        </p:nvSpPr>
        <p:spPr>
          <a:xfrm>
            <a:off x="661475" y="2769195"/>
            <a:ext cx="3568214" cy="309563"/>
          </a:xfrm>
          <a:prstGeom prst="rect">
            <a:avLst/>
          </a:prstGeom>
          <a:noFill/>
          <a:ln/>
        </p:spPr>
        <p:txBody>
          <a:bodyPr wrap="square" lIns="0" tIns="0" rIns="0" bIns="0" rtlCol="0" anchor="t">
            <a:normAutofit/>
          </a:bodyPr>
          <a:lstStyle/>
          <a:p>
            <a:pPr algn="ctr" indent="0" marL="0">
              <a:lnSpc>
                <a:spcPct val="93000"/>
              </a:lnSpc>
              <a:buNone/>
            </a:pPr>
            <a:r>
              <a:rPr lang="en-US" sz="1050" dirty="0">
                <a:solidFill>
                  <a:srgbClr val="E5E0DF"/>
                </a:solidFill>
                <a:latin typeface="Instrument Sans" pitchFamily="34" charset="0"/>
                <a:ea typeface="Instrument Sans" pitchFamily="34" charset="-122"/>
                <a:cs typeface="Instrument Sans" pitchFamily="34" charset="-120"/>
              </a:rPr>
              <a:t>EDA dimensions explored across customer and purchase data</a:t>
            </a:r>
            <a:endParaRPr lang="en-US" sz="1050" dirty="0"/>
          </a:p>
        </p:txBody>
      </p:sp>
      <p:sp>
        <p:nvSpPr>
          <p:cNvPr id="6" name="Text 3"/>
          <p:cNvSpPr/>
          <p:nvPr/>
        </p:nvSpPr>
        <p:spPr>
          <a:xfrm>
            <a:off x="5410958" y="1701502"/>
            <a:ext cx="1369482" cy="278408"/>
          </a:xfrm>
          <a:prstGeom prst="rect">
            <a:avLst/>
          </a:prstGeom>
          <a:noFill/>
          <a:ln/>
        </p:spPr>
        <p:txBody>
          <a:bodyPr wrap="none" lIns="0" tIns="0" rIns="0" bIns="0" rtlCol="0" anchor="t"/>
          <a:lstStyle/>
          <a:p>
            <a:pPr algn="ctr" indent="0" marL="0">
              <a:lnSpc>
                <a:spcPct val="83000"/>
              </a:lnSpc>
              <a:buNone/>
            </a:pPr>
            <a:r>
              <a:rPr lang="en-US" sz="2150" dirty="0">
                <a:solidFill>
                  <a:srgbClr val="E5E0DF"/>
                </a:solidFill>
                <a:latin typeface="Instrument Sans SemiBold" pitchFamily="34" charset="0"/>
                <a:ea typeface="Instrument Sans SemiBold" pitchFamily="34" charset="-122"/>
                <a:cs typeface="Instrument Sans SemiBold" pitchFamily="34" charset="-120"/>
              </a:rPr>
              <a:t>8</a:t>
            </a:r>
            <a:endParaRPr lang="en-US" sz="2150" dirty="0"/>
          </a:p>
        </p:txBody>
      </p:sp>
      <p:pic>
        <p:nvPicPr>
          <p:cNvPr id="7" name="Image 1" descr="preencoded.png">    </p:cNvPr>
          <p:cNvPicPr>
            <a:picLocks noChangeAspect="1"/>
          </p:cNvPicPr>
          <p:nvPr/>
        </p:nvPicPr>
        <p:blipFill>
          <a:blip r:embed="rId2"/>
          <a:stretch>
            <a:fillRect/>
          </a:stretch>
        </p:blipFill>
        <p:spPr>
          <a:xfrm>
            <a:off x="5260744" y="1005681"/>
            <a:ext cx="1670107" cy="1670149"/>
          </a:xfrm>
          <a:prstGeom prst="rect">
            <a:avLst/>
          </a:prstGeom>
        </p:spPr>
      </p:pic>
      <p:sp>
        <p:nvSpPr>
          <p:cNvPr id="8" name="Text 4"/>
          <p:cNvSpPr/>
          <p:nvPr/>
        </p:nvSpPr>
        <p:spPr>
          <a:xfrm>
            <a:off x="4311641" y="2769195"/>
            <a:ext cx="3568313" cy="154781"/>
          </a:xfrm>
          <a:prstGeom prst="rect">
            <a:avLst/>
          </a:prstGeom>
          <a:noFill/>
          <a:ln/>
        </p:spPr>
        <p:txBody>
          <a:bodyPr wrap="none" lIns="0" tIns="0" rIns="0" bIns="0" rtlCol="0" anchor="t"/>
          <a:lstStyle/>
          <a:p>
            <a:pPr algn="ctr" indent="0" marL="0">
              <a:lnSpc>
                <a:spcPct val="93000"/>
              </a:lnSpc>
              <a:buNone/>
            </a:pPr>
            <a:r>
              <a:rPr lang="en-US" sz="1050" dirty="0">
                <a:solidFill>
                  <a:srgbClr val="E5E0DF"/>
                </a:solidFill>
                <a:latin typeface="Instrument Sans" pitchFamily="34" charset="0"/>
                <a:ea typeface="Instrument Sans" pitchFamily="34" charset="-122"/>
                <a:cs typeface="Instrument Sans" pitchFamily="34" charset="-120"/>
              </a:rPr>
              <a:t>SQL queries powering aggregated business analysis</a:t>
            </a:r>
            <a:endParaRPr lang="en-US" sz="1050" dirty="0"/>
          </a:p>
        </p:txBody>
      </p:sp>
      <p:sp>
        <p:nvSpPr>
          <p:cNvPr id="9" name="Text 5"/>
          <p:cNvSpPr/>
          <p:nvPr/>
        </p:nvSpPr>
        <p:spPr>
          <a:xfrm>
            <a:off x="9061223" y="1701502"/>
            <a:ext cx="1369482" cy="278408"/>
          </a:xfrm>
          <a:prstGeom prst="rect">
            <a:avLst/>
          </a:prstGeom>
          <a:noFill/>
          <a:ln/>
        </p:spPr>
        <p:txBody>
          <a:bodyPr wrap="none" lIns="0" tIns="0" rIns="0" bIns="0" rtlCol="0" anchor="t"/>
          <a:lstStyle/>
          <a:p>
            <a:pPr algn="ctr" indent="0" marL="0">
              <a:lnSpc>
                <a:spcPct val="83000"/>
              </a:lnSpc>
              <a:buNone/>
            </a:pPr>
            <a:r>
              <a:rPr lang="en-US" sz="2150" dirty="0">
                <a:solidFill>
                  <a:srgbClr val="E5E0DF"/>
                </a:solidFill>
                <a:latin typeface="Instrument Sans SemiBold" pitchFamily="34" charset="0"/>
                <a:ea typeface="Instrument Sans SemiBold" pitchFamily="34" charset="-122"/>
                <a:cs typeface="Instrument Sans SemiBold" pitchFamily="34" charset="-120"/>
              </a:rPr>
              <a:t>25–40</a:t>
            </a:r>
            <a:endParaRPr lang="en-US" sz="2150" dirty="0"/>
          </a:p>
        </p:txBody>
      </p:sp>
      <p:pic>
        <p:nvPicPr>
          <p:cNvPr id="10" name="Image 2" descr="preencoded.png">    </p:cNvPr>
          <p:cNvPicPr>
            <a:picLocks noChangeAspect="1"/>
          </p:cNvPicPr>
          <p:nvPr/>
        </p:nvPicPr>
        <p:blipFill>
          <a:blip r:embed="rId3"/>
          <a:stretch>
            <a:fillRect/>
          </a:stretch>
        </p:blipFill>
        <p:spPr>
          <a:xfrm>
            <a:off x="8911010" y="1005681"/>
            <a:ext cx="1670107" cy="1670149"/>
          </a:xfrm>
          <a:prstGeom prst="rect">
            <a:avLst/>
          </a:prstGeom>
        </p:spPr>
      </p:pic>
      <p:sp>
        <p:nvSpPr>
          <p:cNvPr id="11" name="Text 6"/>
          <p:cNvSpPr/>
          <p:nvPr/>
        </p:nvSpPr>
        <p:spPr>
          <a:xfrm>
            <a:off x="7961907" y="2769195"/>
            <a:ext cx="3568313" cy="154781"/>
          </a:xfrm>
          <a:prstGeom prst="rect">
            <a:avLst/>
          </a:prstGeom>
          <a:noFill/>
          <a:ln/>
        </p:spPr>
        <p:txBody>
          <a:bodyPr wrap="none" lIns="0" tIns="0" rIns="0" bIns="0" rtlCol="0" anchor="t"/>
          <a:lstStyle/>
          <a:p>
            <a:pPr algn="ctr" indent="0" marL="0">
              <a:lnSpc>
                <a:spcPct val="93000"/>
              </a:lnSpc>
              <a:buNone/>
            </a:pPr>
            <a:r>
              <a:rPr lang="en-US" sz="1050" dirty="0">
                <a:solidFill>
                  <a:srgbClr val="E5E0DF"/>
                </a:solidFill>
                <a:latin typeface="Instrument Sans" pitchFamily="34" charset="0"/>
                <a:ea typeface="Instrument Sans" pitchFamily="34" charset="-122"/>
                <a:cs typeface="Instrument Sans" pitchFamily="34" charset="-120"/>
              </a:rPr>
              <a:t>Peak age group driving the highest sales volume</a:t>
            </a:r>
            <a:endParaRPr lang="en-US" sz="1050" dirty="0"/>
          </a:p>
        </p:txBody>
      </p:sp>
      <p:sp>
        <p:nvSpPr>
          <p:cNvPr id="12" name="Text 7"/>
          <p:cNvSpPr/>
          <p:nvPr/>
        </p:nvSpPr>
        <p:spPr>
          <a:xfrm>
            <a:off x="1760692" y="3933527"/>
            <a:ext cx="1369482" cy="278408"/>
          </a:xfrm>
          <a:prstGeom prst="rect">
            <a:avLst/>
          </a:prstGeom>
          <a:noFill/>
          <a:ln/>
        </p:spPr>
        <p:txBody>
          <a:bodyPr wrap="none" lIns="0" tIns="0" rIns="0" bIns="0" rtlCol="0" anchor="t"/>
          <a:lstStyle/>
          <a:p>
            <a:pPr algn="ctr" indent="0" marL="0">
              <a:lnSpc>
                <a:spcPct val="83000"/>
              </a:lnSpc>
              <a:buNone/>
            </a:pPr>
            <a:r>
              <a:rPr lang="en-US" sz="2150" dirty="0">
                <a:solidFill>
                  <a:srgbClr val="E5E0DF"/>
                </a:solidFill>
                <a:latin typeface="Instrument Sans SemiBold" pitchFamily="34" charset="0"/>
                <a:ea typeface="Instrument Sans SemiBold" pitchFamily="34" charset="-122"/>
                <a:cs typeface="Instrument Sans SemiBold" pitchFamily="34" charset="-120"/>
              </a:rPr>
              <a:t>2</a:t>
            </a:r>
            <a:endParaRPr lang="en-US" sz="2150" dirty="0"/>
          </a:p>
        </p:txBody>
      </p:sp>
      <p:pic>
        <p:nvPicPr>
          <p:cNvPr id="13" name="Image 3" descr="preencoded.png">    </p:cNvPr>
          <p:cNvPicPr>
            <a:picLocks noChangeAspect="1"/>
          </p:cNvPicPr>
          <p:nvPr/>
        </p:nvPicPr>
        <p:blipFill>
          <a:blip r:embed="rId4"/>
          <a:stretch>
            <a:fillRect/>
          </a:stretch>
        </p:blipFill>
        <p:spPr>
          <a:xfrm>
            <a:off x="1610478" y="3237706"/>
            <a:ext cx="1670107" cy="1670149"/>
          </a:xfrm>
          <a:prstGeom prst="rect">
            <a:avLst/>
          </a:prstGeom>
        </p:spPr>
      </p:pic>
      <p:sp>
        <p:nvSpPr>
          <p:cNvPr id="14" name="Text 8"/>
          <p:cNvSpPr/>
          <p:nvPr/>
        </p:nvSpPr>
        <p:spPr>
          <a:xfrm>
            <a:off x="661475" y="5001220"/>
            <a:ext cx="3568214" cy="154781"/>
          </a:xfrm>
          <a:prstGeom prst="rect">
            <a:avLst/>
          </a:prstGeom>
          <a:noFill/>
          <a:ln/>
        </p:spPr>
        <p:txBody>
          <a:bodyPr wrap="none" lIns="0" tIns="0" rIns="0" bIns="0" rtlCol="0" anchor="t"/>
          <a:lstStyle/>
          <a:p>
            <a:pPr algn="ctr" indent="0" marL="0">
              <a:lnSpc>
                <a:spcPct val="93000"/>
              </a:lnSpc>
              <a:buNone/>
            </a:pPr>
            <a:r>
              <a:rPr lang="en-US" sz="1050" dirty="0">
                <a:solidFill>
                  <a:srgbClr val="E5E0DF"/>
                </a:solidFill>
                <a:latin typeface="Instrument Sans" pitchFamily="34" charset="0"/>
                <a:ea typeface="Instrument Sans" pitchFamily="34" charset="-122"/>
                <a:cs typeface="Instrument Sans" pitchFamily="34" charset="-120"/>
              </a:rPr>
              <a:t>Top product categories: Clothing and Electronics</a:t>
            </a:r>
            <a:endParaRPr lang="en-US" sz="1050" dirty="0"/>
          </a:p>
        </p:txBody>
      </p:sp>
      <p:sp>
        <p:nvSpPr>
          <p:cNvPr id="15" name="Text 9"/>
          <p:cNvSpPr/>
          <p:nvPr/>
        </p:nvSpPr>
        <p:spPr>
          <a:xfrm>
            <a:off x="5410958" y="3933527"/>
            <a:ext cx="1369482" cy="278408"/>
          </a:xfrm>
          <a:prstGeom prst="rect">
            <a:avLst/>
          </a:prstGeom>
          <a:noFill/>
          <a:ln/>
        </p:spPr>
        <p:txBody>
          <a:bodyPr wrap="none" lIns="0" tIns="0" rIns="0" bIns="0" rtlCol="0" anchor="t"/>
          <a:lstStyle/>
          <a:p>
            <a:pPr algn="ctr" indent="0" marL="0">
              <a:lnSpc>
                <a:spcPct val="83000"/>
              </a:lnSpc>
              <a:buNone/>
            </a:pPr>
            <a:r>
              <a:rPr lang="en-US" sz="2150" dirty="0">
                <a:solidFill>
                  <a:srgbClr val="E5E0DF"/>
                </a:solidFill>
                <a:latin typeface="Instrument Sans SemiBold" pitchFamily="34" charset="0"/>
                <a:ea typeface="Instrument Sans SemiBold" pitchFamily="34" charset="-122"/>
                <a:cs typeface="Instrument Sans SemiBold" pitchFamily="34" charset="-120"/>
              </a:rPr>
              <a:t>2</a:t>
            </a:r>
            <a:endParaRPr lang="en-US" sz="2150" dirty="0"/>
          </a:p>
        </p:txBody>
      </p:sp>
      <p:pic>
        <p:nvPicPr>
          <p:cNvPr id="16" name="Image 4" descr="preencoded.png">    </p:cNvPr>
          <p:cNvPicPr>
            <a:picLocks noChangeAspect="1"/>
          </p:cNvPicPr>
          <p:nvPr/>
        </p:nvPicPr>
        <p:blipFill>
          <a:blip r:embed="rId5"/>
          <a:stretch>
            <a:fillRect/>
          </a:stretch>
        </p:blipFill>
        <p:spPr>
          <a:xfrm>
            <a:off x="5260744" y="3237706"/>
            <a:ext cx="1670107" cy="1670149"/>
          </a:xfrm>
          <a:prstGeom prst="rect">
            <a:avLst/>
          </a:prstGeom>
        </p:spPr>
      </p:pic>
      <p:sp>
        <p:nvSpPr>
          <p:cNvPr id="17" name="Text 10"/>
          <p:cNvSpPr/>
          <p:nvPr/>
        </p:nvSpPr>
        <p:spPr>
          <a:xfrm>
            <a:off x="4311641" y="5001220"/>
            <a:ext cx="3568313" cy="154781"/>
          </a:xfrm>
          <a:prstGeom prst="rect">
            <a:avLst/>
          </a:prstGeom>
          <a:noFill/>
          <a:ln/>
        </p:spPr>
        <p:txBody>
          <a:bodyPr wrap="none" lIns="0" tIns="0" rIns="0" bIns="0" rtlCol="0" anchor="t"/>
          <a:lstStyle/>
          <a:p>
            <a:pPr algn="ctr" indent="0" marL="0">
              <a:lnSpc>
                <a:spcPct val="93000"/>
              </a:lnSpc>
              <a:buNone/>
            </a:pPr>
            <a:r>
              <a:rPr lang="en-US" sz="1050" dirty="0">
                <a:solidFill>
                  <a:srgbClr val="E5E0DF"/>
                </a:solidFill>
                <a:latin typeface="Instrument Sans" pitchFamily="34" charset="0"/>
                <a:ea typeface="Instrument Sans" pitchFamily="34" charset="-122"/>
                <a:cs typeface="Instrument Sans" pitchFamily="34" charset="-120"/>
              </a:rPr>
              <a:t>Preferred payment methods: Credit Card and UPI</a:t>
            </a:r>
            <a:endParaRPr lang="en-US" sz="1050" dirty="0"/>
          </a:p>
        </p:txBody>
      </p:sp>
      <p:sp>
        <p:nvSpPr>
          <p:cNvPr id="18" name="Text 11"/>
          <p:cNvSpPr/>
          <p:nvPr/>
        </p:nvSpPr>
        <p:spPr>
          <a:xfrm>
            <a:off x="9061223" y="3933527"/>
            <a:ext cx="1369482" cy="278408"/>
          </a:xfrm>
          <a:prstGeom prst="rect">
            <a:avLst/>
          </a:prstGeom>
          <a:noFill/>
          <a:ln/>
        </p:spPr>
        <p:txBody>
          <a:bodyPr wrap="none" lIns="0" tIns="0" rIns="0" bIns="0" rtlCol="0" anchor="t"/>
          <a:lstStyle/>
          <a:p>
            <a:pPr algn="ctr" indent="0" marL="0">
              <a:lnSpc>
                <a:spcPct val="83000"/>
              </a:lnSpc>
              <a:buNone/>
            </a:pPr>
            <a:r>
              <a:rPr lang="en-US" sz="2150" dirty="0">
                <a:solidFill>
                  <a:srgbClr val="E5E0DF"/>
                </a:solidFill>
                <a:latin typeface="Instrument Sans SemiBold" pitchFamily="34" charset="0"/>
                <a:ea typeface="Instrument Sans SemiBold" pitchFamily="34" charset="-122"/>
                <a:cs typeface="Instrument Sans SemiBold" pitchFamily="34" charset="-120"/>
              </a:rPr>
              <a:t>7</a:t>
            </a:r>
            <a:endParaRPr lang="en-US" sz="2150" dirty="0"/>
          </a:p>
        </p:txBody>
      </p:sp>
      <p:pic>
        <p:nvPicPr>
          <p:cNvPr id="19" name="Image 5" descr="preencoded.png">    </p:cNvPr>
          <p:cNvPicPr>
            <a:picLocks noChangeAspect="1"/>
          </p:cNvPicPr>
          <p:nvPr/>
        </p:nvPicPr>
        <p:blipFill>
          <a:blip r:embed="rId6"/>
          <a:stretch>
            <a:fillRect/>
          </a:stretch>
        </p:blipFill>
        <p:spPr>
          <a:xfrm>
            <a:off x="8911010" y="3237706"/>
            <a:ext cx="1670107" cy="1670149"/>
          </a:xfrm>
          <a:prstGeom prst="rect">
            <a:avLst/>
          </a:prstGeom>
        </p:spPr>
      </p:pic>
      <p:sp>
        <p:nvSpPr>
          <p:cNvPr id="20" name="Text 12"/>
          <p:cNvSpPr/>
          <p:nvPr/>
        </p:nvSpPr>
        <p:spPr>
          <a:xfrm>
            <a:off x="7961907" y="5001220"/>
            <a:ext cx="3568313" cy="154781"/>
          </a:xfrm>
          <a:prstGeom prst="rect">
            <a:avLst/>
          </a:prstGeom>
          <a:noFill/>
          <a:ln/>
        </p:spPr>
        <p:txBody>
          <a:bodyPr wrap="none" lIns="0" tIns="0" rIns="0" bIns="0" rtlCol="0" anchor="t"/>
          <a:lstStyle/>
          <a:p>
            <a:pPr algn="ctr" indent="0" marL="0">
              <a:lnSpc>
                <a:spcPct val="93000"/>
              </a:lnSpc>
              <a:buNone/>
            </a:pPr>
            <a:r>
              <a:rPr lang="en-US" sz="1050" dirty="0">
                <a:solidFill>
                  <a:srgbClr val="E5E0DF"/>
                </a:solidFill>
                <a:latin typeface="Instrument Sans" pitchFamily="34" charset="0"/>
                <a:ea typeface="Instrument Sans" pitchFamily="34" charset="-122"/>
                <a:cs typeface="Instrument Sans" pitchFamily="34" charset="-120"/>
              </a:rPr>
              <a:t>Shopping malls and store locations captured in dataset</a:t>
            </a:r>
            <a:endParaRPr lang="en-US" sz="1050" dirty="0"/>
          </a:p>
        </p:txBody>
      </p:sp>
      <p:sp>
        <p:nvSpPr>
          <p:cNvPr id="21" name="Text 13"/>
          <p:cNvSpPr/>
          <p:nvPr/>
        </p:nvSpPr>
        <p:spPr>
          <a:xfrm>
            <a:off x="661475" y="5229721"/>
            <a:ext cx="11478330" cy="123825"/>
          </a:xfrm>
          <a:prstGeom prst="rect">
            <a:avLst/>
          </a:prstGeom>
          <a:noFill/>
          <a:ln/>
        </p:spPr>
        <p:txBody>
          <a:bodyPr wrap="none" lIns="0" tIns="0" rIns="0" bIns="0" rtlCol="0" anchor="t"/>
          <a:lstStyle/>
          <a:p>
            <a:pPr algn="l" indent="0" marL="0">
              <a:lnSpc>
                <a:spcPct val="93000"/>
              </a:lnSpc>
              <a:buNone/>
            </a:pPr>
            <a:endParaRPr lang="en-US" sz="850" dirty="0"/>
          </a:p>
        </p:txBody>
      </p:sp>
      <p:pic>
        <p:nvPicPr>
          <p:cNvPr id="22" name="Image 6" descr="preencoded.png">    </p:cNvPr>
          <p:cNvPicPr>
            <a:picLocks noChangeAspect="1"/>
          </p:cNvPicPr>
          <p:nvPr/>
        </p:nvPicPr>
        <p:blipFill>
          <a:blip r:embed="rId7"/>
          <a:stretch>
            <a:fillRect/>
          </a:stretch>
        </p:blipFill>
        <p:spPr>
          <a:xfrm>
            <a:off x="661475" y="5427266"/>
            <a:ext cx="10868745" cy="508099"/>
          </a:xfrm>
          <a:prstGeom prst="rect">
            <a:avLst/>
          </a:prstGeom>
        </p:spPr>
      </p:pic>
      <p:sp>
        <p:nvSpPr>
          <p:cNvPr id="23" name="Text 14"/>
          <p:cNvSpPr/>
          <p:nvPr/>
        </p:nvSpPr>
        <p:spPr>
          <a:xfrm>
            <a:off x="772796" y="5538589"/>
            <a:ext cx="10646104" cy="151904"/>
          </a:xfrm>
          <a:prstGeom prst="rect">
            <a:avLst/>
          </a:prstGeom>
          <a:noFill/>
          <a:ln/>
        </p:spPr>
        <p:txBody>
          <a:bodyPr wrap="none" lIns="0" tIns="0" rIns="0" bIns="0" rtlCol="0" anchor="t"/>
          <a:lstStyle/>
          <a:p>
            <a:pPr algn="l" indent="0" marL="0">
              <a:lnSpc>
                <a:spcPct val="83000"/>
              </a:lnSpc>
              <a:buNone/>
            </a:pPr>
            <a:r>
              <a:rPr lang="en-US" sz="1050" dirty="0">
                <a:solidFill>
                  <a:srgbClr val="000000"/>
                </a:solidFill>
                <a:latin typeface="Instrument Sans SemiBold" pitchFamily="34" charset="0"/>
                <a:ea typeface="Instrument Sans SemiBold" pitchFamily="34" charset="-122"/>
                <a:cs typeface="Instrument Sans SemiBold" pitchFamily="34" charset="-120"/>
              </a:rPr>
              <a:t>Example SQL: </a:t>
            </a:r>
            <a:pPr algn="l" indent="0" marL="0">
              <a:lnSpc>
                <a:spcPct val="83000"/>
              </a:lnSpc>
              <a:buNone/>
            </a:pPr>
            <a:r>
              <a:rPr lang="en-US" sz="1050" dirty="0">
                <a:solidFill>
                  <a:srgbClr val="000000"/>
                </a:solidFill>
                <a:highlight>
                  <a:srgbClr val="272727"/>
                </a:highlight>
                <a:latin typeface="Consolas" pitchFamily="34" charset="0"/>
                <a:ea typeface="Consolas" pitchFamily="34" charset="-122"/>
                <a:cs typeface="Consolas" pitchFamily="34" charset="-120"/>
              </a:rPr>
              <a:t>SELECT Category, SUM(Purchase_Amount) FROM Shopping_Data GROUP BY Category;</a:t>
            </a:r>
            <a:pPr algn="l" indent="0" marL="0">
              <a:lnSpc>
                <a:spcPct val="83000"/>
              </a:lnSpc>
              <a:buNone/>
            </a:pPr>
            <a:r>
              <a:rPr lang="en-US" sz="1050" dirty="0">
                <a:solidFill>
                  <a:srgbClr val="000000"/>
                </a:solidFill>
                <a:latin typeface="Instrument Sans SemiBold" pitchFamily="34" charset="0"/>
                <a:ea typeface="Instrument Sans SemiBold" pitchFamily="34" charset="-122"/>
                <a:cs typeface="Instrument Sans SemiBold" pitchFamily="34" charset="-120"/>
              </a:rPr>
              <a:t> — surfaces revenue by product category instantly.</a:t>
            </a:r>
            <a:endParaRPr lang="en-US" sz="1050" dirty="0"/>
          </a:p>
        </p:txBody>
      </p:sp>
      <p:sp>
        <p:nvSpPr>
          <p:cNvPr id="24" name="Text 15"/>
          <p:cNvSpPr/>
          <p:nvPr/>
        </p:nvSpPr>
        <p:spPr>
          <a:xfrm>
            <a:off x="661475" y="6009084"/>
            <a:ext cx="10868745" cy="247650"/>
          </a:xfrm>
          <a:prstGeom prst="rect">
            <a:avLst/>
          </a:prstGeom>
          <a:noFill/>
          <a:ln/>
        </p:spPr>
        <p:txBody>
          <a:bodyPr wrap="square" lIns="0" tIns="0" rIns="0" bIns="0" rtlCol="0" anchor="t">
            <a:normAutofit/>
          </a:bodyPr>
          <a:lstStyle/>
          <a:p>
            <a:pPr algn="l" indent="0" marL="0">
              <a:lnSpc>
                <a:spcPct val="93000"/>
              </a:lnSpc>
              <a:buNone/>
            </a:pPr>
            <a:r>
              <a:rPr lang="en-US" sz="850" dirty="0">
                <a:solidFill>
                  <a:srgbClr val="E5E0DF"/>
                </a:solidFill>
                <a:latin typeface="Instrument Sans" pitchFamily="34" charset="0"/>
                <a:ea typeface="Instrument Sans" pitchFamily="34" charset="-122"/>
                <a:cs typeface="Instrument Sans" pitchFamily="34" charset="-120"/>
              </a:rPr>
              <a:t>EDA covers Customer Age Distribution, Gender Distribution, Purchase Amount Analysis, Product Category Analysis, Monthly Sales Trend, Shopping Frequency, Payment Method Distribution, and Customer Segmentation. SQL queries add Total Sales, Average Purchase Amount, Top Selling Categories, Highest Spending Customers, Gender-wise Sales, Age Group Analysis, Monthly Revenue, and Payment Method Usage.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765175"/>
            <a:ext cx="10868745" cy="448965"/>
          </a:xfrm>
          <a:prstGeom prst="rect">
            <a:avLst/>
          </a:prstGeom>
          <a:noFill/>
          <a:ln/>
        </p:spPr>
        <p:txBody>
          <a:bodyPr wrap="none" lIns="0" tIns="0" rIns="0" bIns="0" rtlCol="0" anchor="t"/>
          <a:lstStyle/>
          <a:p>
            <a:pPr algn="l" indent="0" marL="0">
              <a:lnSpc>
                <a:spcPct val="83000"/>
              </a:lnSpc>
              <a:buNone/>
            </a:pPr>
            <a:r>
              <a:rPr lang="en-US" sz="3500" dirty="0">
                <a:solidFill>
                  <a:srgbClr val="FFFFFF"/>
                </a:solidFill>
                <a:latin typeface="Instrument Sans SemiBold" pitchFamily="34" charset="0"/>
                <a:ea typeface="Instrument Sans SemiBold" pitchFamily="34" charset="-122"/>
                <a:cs typeface="Instrument Sans SemiBold" pitchFamily="34" charset="-120"/>
              </a:rPr>
              <a:t>Power BI Dashboard</a:t>
            </a:r>
            <a:endParaRPr lang="en-US" sz="3500" dirty="0"/>
          </a:p>
        </p:txBody>
      </p:sp>
      <p:sp>
        <p:nvSpPr>
          <p:cNvPr id="3" name="Text 1"/>
          <p:cNvSpPr/>
          <p:nvPr/>
        </p:nvSpPr>
        <p:spPr>
          <a:xfrm>
            <a:off x="661475" y="1470025"/>
            <a:ext cx="10868745" cy="490141"/>
          </a:xfrm>
          <a:prstGeom prst="rect">
            <a:avLst/>
          </a:prstGeom>
          <a:noFill/>
          <a:ln/>
        </p:spPr>
        <p:txBody>
          <a:bodyPr wrap="square" lIns="0" tIns="0" rIns="0" bIns="0" rtlCol="0" anchor="t">
            <a:normAutofit/>
          </a:bodyPr>
          <a:lstStyle/>
          <a:p>
            <a:pPr algn="l" indent="0" marL="0">
              <a:lnSpc>
                <a:spcPct val="114000"/>
              </a:lnSpc>
              <a:buNone/>
            </a:pPr>
            <a:r>
              <a:rPr lang="en-US" sz="1400" dirty="0">
                <a:solidFill>
                  <a:srgbClr val="E5E0DF"/>
                </a:solidFill>
                <a:latin typeface="Instrument Sans" pitchFamily="34" charset="0"/>
                <a:ea typeface="Instrument Sans" pitchFamily="34" charset="-122"/>
                <a:cs typeface="Instrument Sans" pitchFamily="34" charset="-120"/>
              </a:rPr>
              <a:t>The Power BI dashboard transforms all analytical outputs into an interactive, executive-ready interface. Decision-makers can explore the data through real-time filters and slicers without any coding knowledge.</a:t>
            </a:r>
            <a:endParaRPr lang="en-US" sz="1400" dirty="0"/>
          </a:p>
        </p:txBody>
      </p:sp>
      <p:sp>
        <p:nvSpPr>
          <p:cNvPr id="4" name="Shape 2"/>
          <p:cNvSpPr/>
          <p:nvPr/>
        </p:nvSpPr>
        <p:spPr>
          <a:xfrm>
            <a:off x="661475" y="2152055"/>
            <a:ext cx="5349047" cy="1885057"/>
          </a:xfrm>
          <a:prstGeom prst="roundRect">
            <a:avLst>
              <a:gd name="adj" fmla="val 4001"/>
            </a:avLst>
          </a:prstGeom>
          <a:solidFill>
            <a:srgbClr val="32CD32"/>
          </a:solidFill>
          <a:ln/>
        </p:spPr>
      </p:sp>
      <p:sp>
        <p:nvSpPr>
          <p:cNvPr id="5" name="Shape 3"/>
          <p:cNvSpPr/>
          <p:nvPr/>
        </p:nvSpPr>
        <p:spPr>
          <a:xfrm>
            <a:off x="840957" y="2331541"/>
            <a:ext cx="538645" cy="538659"/>
          </a:xfrm>
          <a:prstGeom prst="ellipse">
            <a:avLst/>
          </a:prstGeom>
          <a:solidFill>
            <a:srgbClr val="32CD32"/>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89087" y="2479675"/>
            <a:ext cx="242385" cy="242391"/>
          </a:xfrm>
          <a:prstGeom prst="rect">
            <a:avLst/>
          </a:prstGeom>
        </p:spPr>
      </p:pic>
      <p:sp>
        <p:nvSpPr>
          <p:cNvPr id="7" name="Text 4"/>
          <p:cNvSpPr/>
          <p:nvPr/>
        </p:nvSpPr>
        <p:spPr>
          <a:xfrm>
            <a:off x="840957" y="3040757"/>
            <a:ext cx="4990082" cy="224433"/>
          </a:xfrm>
          <a:prstGeom prst="rect">
            <a:avLst/>
          </a:prstGeom>
          <a:noFill/>
          <a:ln/>
        </p:spPr>
        <p:txBody>
          <a:bodyPr wrap="none" lIns="0" tIns="0" rIns="0" bIns="0" rtlCol="0" anchor="t"/>
          <a:lstStyle/>
          <a:p>
            <a:pPr algn="l" indent="0" marL="0">
              <a:lnSpc>
                <a:spcPct val="83000"/>
              </a:lnSpc>
              <a:buNone/>
            </a:pPr>
            <a:r>
              <a:rPr lang="en-US" sz="1750" b="1" dirty="0">
                <a:solidFill>
                  <a:srgbClr val="000000"/>
                </a:solidFill>
                <a:latin typeface="Instrument Sans Bold" pitchFamily="34" charset="0"/>
                <a:ea typeface="Instrument Sans Bold" pitchFamily="34" charset="-122"/>
                <a:cs typeface="Instrument Sans Bold" pitchFamily="34" charset="-120"/>
              </a:rPr>
              <a:t>KPI Cards:</a:t>
            </a:r>
            <a:endParaRPr lang="en-US" sz="1750" dirty="0"/>
          </a:p>
        </p:txBody>
      </p:sp>
      <p:sp>
        <p:nvSpPr>
          <p:cNvPr id="8" name="Text 5"/>
          <p:cNvSpPr/>
          <p:nvPr/>
        </p:nvSpPr>
        <p:spPr>
          <a:xfrm>
            <a:off x="840957" y="3367484"/>
            <a:ext cx="4990082" cy="490141"/>
          </a:xfrm>
          <a:prstGeom prst="rect">
            <a:avLst/>
          </a:prstGeom>
          <a:noFill/>
          <a:ln/>
        </p:spPr>
        <p:txBody>
          <a:bodyPr wrap="square" lIns="0" tIns="0" rIns="0" bIns="0" rtlCol="0" anchor="t">
            <a:normAutofit/>
          </a:bodyPr>
          <a:lstStyle/>
          <a:p>
            <a:pPr algn="l" indent="0" marL="0">
              <a:lnSpc>
                <a:spcPct val="114000"/>
              </a:lnSpc>
              <a:buNone/>
            </a:pPr>
            <a:r>
              <a:rPr lang="en-US" sz="1400" dirty="0">
                <a:solidFill>
                  <a:srgbClr val="000000"/>
                </a:solidFill>
                <a:latin typeface="Instrument Sans" pitchFamily="34" charset="0"/>
                <a:ea typeface="Instrument Sans" pitchFamily="34" charset="-122"/>
                <a:cs typeface="Instrument Sans" pitchFamily="34" charset="-120"/>
              </a:rPr>
              <a:t>Total Revenue, Number of Customers, and Average Purchase Amount displayed as at-a-glance headline metrics.</a:t>
            </a:r>
            <a:endParaRPr lang="en-US" sz="1400" dirty="0"/>
          </a:p>
        </p:txBody>
      </p:sp>
      <p:sp>
        <p:nvSpPr>
          <p:cNvPr id="9" name="Shape 6"/>
          <p:cNvSpPr/>
          <p:nvPr/>
        </p:nvSpPr>
        <p:spPr>
          <a:xfrm>
            <a:off x="6181074" y="2152055"/>
            <a:ext cx="5349146" cy="1885057"/>
          </a:xfrm>
          <a:prstGeom prst="roundRect">
            <a:avLst>
              <a:gd name="adj" fmla="val 4001"/>
            </a:avLst>
          </a:prstGeom>
          <a:solidFill>
            <a:srgbClr val="32CD32"/>
          </a:solidFill>
          <a:ln/>
        </p:spPr>
      </p:sp>
      <p:sp>
        <p:nvSpPr>
          <p:cNvPr id="10" name="Shape 7"/>
          <p:cNvSpPr/>
          <p:nvPr/>
        </p:nvSpPr>
        <p:spPr>
          <a:xfrm>
            <a:off x="6360557" y="2331541"/>
            <a:ext cx="538645" cy="538659"/>
          </a:xfrm>
          <a:prstGeom prst="ellipse">
            <a:avLst/>
          </a:prstGeom>
          <a:solidFill>
            <a:srgbClr val="32CD32"/>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08686" y="2479675"/>
            <a:ext cx="242385" cy="242391"/>
          </a:xfrm>
          <a:prstGeom prst="rect">
            <a:avLst/>
          </a:prstGeom>
        </p:spPr>
      </p:pic>
      <p:sp>
        <p:nvSpPr>
          <p:cNvPr id="12" name="Text 8"/>
          <p:cNvSpPr/>
          <p:nvPr/>
        </p:nvSpPr>
        <p:spPr>
          <a:xfrm>
            <a:off x="6360557" y="3040757"/>
            <a:ext cx="4990181" cy="224433"/>
          </a:xfrm>
          <a:prstGeom prst="rect">
            <a:avLst/>
          </a:prstGeom>
          <a:noFill/>
          <a:ln/>
        </p:spPr>
        <p:txBody>
          <a:bodyPr wrap="none" lIns="0" tIns="0" rIns="0" bIns="0" rtlCol="0" anchor="t"/>
          <a:lstStyle/>
          <a:p>
            <a:pPr algn="l" indent="0" marL="0">
              <a:lnSpc>
                <a:spcPct val="83000"/>
              </a:lnSpc>
              <a:buNone/>
            </a:pPr>
            <a:r>
              <a:rPr lang="en-US" sz="1750" b="1" dirty="0">
                <a:solidFill>
                  <a:srgbClr val="000000"/>
                </a:solidFill>
                <a:latin typeface="Instrument Sans Bold" pitchFamily="34" charset="0"/>
                <a:ea typeface="Instrument Sans Bold" pitchFamily="34" charset="-122"/>
                <a:cs typeface="Instrument Sans Bold" pitchFamily="34" charset="-120"/>
              </a:rPr>
              <a:t>Category &amp; Gender:</a:t>
            </a:r>
            <a:endParaRPr lang="en-US" sz="1750" dirty="0"/>
          </a:p>
        </p:txBody>
      </p:sp>
      <p:sp>
        <p:nvSpPr>
          <p:cNvPr id="13" name="Text 9"/>
          <p:cNvSpPr/>
          <p:nvPr/>
        </p:nvSpPr>
        <p:spPr>
          <a:xfrm>
            <a:off x="6360557" y="3367484"/>
            <a:ext cx="4990181" cy="490141"/>
          </a:xfrm>
          <a:prstGeom prst="rect">
            <a:avLst/>
          </a:prstGeom>
          <a:noFill/>
          <a:ln/>
        </p:spPr>
        <p:txBody>
          <a:bodyPr wrap="square" lIns="0" tIns="0" rIns="0" bIns="0" rtlCol="0" anchor="t">
            <a:normAutofit/>
          </a:bodyPr>
          <a:lstStyle/>
          <a:p>
            <a:pPr algn="l" indent="0" marL="0">
              <a:lnSpc>
                <a:spcPct val="114000"/>
              </a:lnSpc>
              <a:buNone/>
            </a:pPr>
            <a:r>
              <a:rPr lang="en-US" sz="1400" dirty="0">
                <a:solidFill>
                  <a:srgbClr val="000000"/>
                </a:solidFill>
                <a:latin typeface="Instrument Sans" pitchFamily="34" charset="0"/>
                <a:ea typeface="Instrument Sans" pitchFamily="34" charset="-122"/>
                <a:cs typeface="Instrument Sans" pitchFamily="34" charset="-120"/>
              </a:rPr>
              <a:t>Sales by Category and Sales by Gender charts reveal which products and demographics drive the most revenue.</a:t>
            </a:r>
            <a:endParaRPr lang="en-US" sz="1400" dirty="0"/>
          </a:p>
        </p:txBody>
      </p:sp>
      <p:sp>
        <p:nvSpPr>
          <p:cNvPr id="14" name="Shape 10"/>
          <p:cNvSpPr/>
          <p:nvPr/>
        </p:nvSpPr>
        <p:spPr>
          <a:xfrm>
            <a:off x="661475" y="4207669"/>
            <a:ext cx="5349047" cy="1885057"/>
          </a:xfrm>
          <a:prstGeom prst="roundRect">
            <a:avLst>
              <a:gd name="adj" fmla="val 4001"/>
            </a:avLst>
          </a:prstGeom>
          <a:solidFill>
            <a:srgbClr val="32CD32"/>
          </a:solidFill>
          <a:ln/>
        </p:spPr>
      </p:sp>
      <p:sp>
        <p:nvSpPr>
          <p:cNvPr id="15" name="Shape 11"/>
          <p:cNvSpPr/>
          <p:nvPr/>
        </p:nvSpPr>
        <p:spPr>
          <a:xfrm>
            <a:off x="840957" y="4387155"/>
            <a:ext cx="538645" cy="538659"/>
          </a:xfrm>
          <a:prstGeom prst="ellipse">
            <a:avLst/>
          </a:prstGeom>
          <a:solidFill>
            <a:srgbClr val="32CD32"/>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9087" y="4535289"/>
            <a:ext cx="242385" cy="242391"/>
          </a:xfrm>
          <a:prstGeom prst="rect">
            <a:avLst/>
          </a:prstGeom>
        </p:spPr>
      </p:pic>
      <p:sp>
        <p:nvSpPr>
          <p:cNvPr id="17" name="Text 12"/>
          <p:cNvSpPr/>
          <p:nvPr/>
        </p:nvSpPr>
        <p:spPr>
          <a:xfrm>
            <a:off x="840957" y="5096371"/>
            <a:ext cx="4990082" cy="224433"/>
          </a:xfrm>
          <a:prstGeom prst="rect">
            <a:avLst/>
          </a:prstGeom>
          <a:noFill/>
          <a:ln/>
        </p:spPr>
        <p:txBody>
          <a:bodyPr wrap="none" lIns="0" tIns="0" rIns="0" bIns="0" rtlCol="0" anchor="t"/>
          <a:lstStyle/>
          <a:p>
            <a:pPr algn="l" indent="0" marL="0">
              <a:lnSpc>
                <a:spcPct val="83000"/>
              </a:lnSpc>
              <a:buNone/>
            </a:pPr>
            <a:r>
              <a:rPr lang="en-US" sz="1750" b="1" dirty="0">
                <a:solidFill>
                  <a:srgbClr val="000000"/>
                </a:solidFill>
                <a:latin typeface="Instrument Sans Bold" pitchFamily="34" charset="0"/>
                <a:ea typeface="Instrument Sans Bold" pitchFamily="34" charset="-122"/>
                <a:cs typeface="Instrument Sans Bold" pitchFamily="34" charset="-120"/>
              </a:rPr>
              <a:t>Age &amp; Trends:</a:t>
            </a:r>
            <a:endParaRPr lang="en-US" sz="1750" dirty="0"/>
          </a:p>
        </p:txBody>
      </p:sp>
      <p:sp>
        <p:nvSpPr>
          <p:cNvPr id="18" name="Text 13"/>
          <p:cNvSpPr/>
          <p:nvPr/>
        </p:nvSpPr>
        <p:spPr>
          <a:xfrm>
            <a:off x="840957" y="5423098"/>
            <a:ext cx="4990082" cy="490141"/>
          </a:xfrm>
          <a:prstGeom prst="rect">
            <a:avLst/>
          </a:prstGeom>
          <a:noFill/>
          <a:ln/>
        </p:spPr>
        <p:txBody>
          <a:bodyPr wrap="square" lIns="0" tIns="0" rIns="0" bIns="0" rtlCol="0" anchor="t">
            <a:normAutofit/>
          </a:bodyPr>
          <a:lstStyle/>
          <a:p>
            <a:pPr algn="l" indent="0" marL="0">
              <a:lnSpc>
                <a:spcPct val="114000"/>
              </a:lnSpc>
              <a:buNone/>
            </a:pPr>
            <a:r>
              <a:rPr lang="en-US" sz="1400" dirty="0">
                <a:solidFill>
                  <a:srgbClr val="000000"/>
                </a:solidFill>
                <a:latin typeface="Instrument Sans" pitchFamily="34" charset="0"/>
                <a:ea typeface="Instrument Sans" pitchFamily="34" charset="-122"/>
                <a:cs typeface="Instrument Sans" pitchFamily="34" charset="-120"/>
              </a:rPr>
              <a:t>Age Group Analysis and Monthly Sales Trend visuals surface the temporal and demographic dynamics of purchasing.</a:t>
            </a:r>
            <a:endParaRPr lang="en-US" sz="1400" dirty="0"/>
          </a:p>
        </p:txBody>
      </p:sp>
      <p:sp>
        <p:nvSpPr>
          <p:cNvPr id="19" name="Shape 14"/>
          <p:cNvSpPr/>
          <p:nvPr/>
        </p:nvSpPr>
        <p:spPr>
          <a:xfrm>
            <a:off x="6181074" y="4207669"/>
            <a:ext cx="5349146" cy="1885057"/>
          </a:xfrm>
          <a:prstGeom prst="roundRect">
            <a:avLst>
              <a:gd name="adj" fmla="val 4001"/>
            </a:avLst>
          </a:prstGeom>
          <a:solidFill>
            <a:srgbClr val="32CD32"/>
          </a:solidFill>
          <a:ln/>
        </p:spPr>
      </p:sp>
      <p:sp>
        <p:nvSpPr>
          <p:cNvPr id="20" name="Shape 15"/>
          <p:cNvSpPr/>
          <p:nvPr/>
        </p:nvSpPr>
        <p:spPr>
          <a:xfrm>
            <a:off x="6360557" y="4387155"/>
            <a:ext cx="538645" cy="538659"/>
          </a:xfrm>
          <a:prstGeom prst="ellipse">
            <a:avLst/>
          </a:prstGeom>
          <a:solidFill>
            <a:srgbClr val="32CD32"/>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08686" y="4535289"/>
            <a:ext cx="242385" cy="242391"/>
          </a:xfrm>
          <a:prstGeom prst="rect">
            <a:avLst/>
          </a:prstGeom>
        </p:spPr>
      </p:pic>
      <p:sp>
        <p:nvSpPr>
          <p:cNvPr id="22" name="Text 16"/>
          <p:cNvSpPr/>
          <p:nvPr/>
        </p:nvSpPr>
        <p:spPr>
          <a:xfrm>
            <a:off x="6360557" y="5096371"/>
            <a:ext cx="4990181" cy="224433"/>
          </a:xfrm>
          <a:prstGeom prst="rect">
            <a:avLst/>
          </a:prstGeom>
          <a:noFill/>
          <a:ln/>
        </p:spPr>
        <p:txBody>
          <a:bodyPr wrap="none" lIns="0" tIns="0" rIns="0" bIns="0" rtlCol="0" anchor="t"/>
          <a:lstStyle/>
          <a:p>
            <a:pPr algn="l" indent="0" marL="0">
              <a:lnSpc>
                <a:spcPct val="83000"/>
              </a:lnSpc>
              <a:buNone/>
            </a:pPr>
            <a:r>
              <a:rPr lang="en-US" sz="1750" b="1" dirty="0">
                <a:solidFill>
                  <a:srgbClr val="000000"/>
                </a:solidFill>
                <a:latin typeface="Instrument Sans Bold" pitchFamily="34" charset="0"/>
                <a:ea typeface="Instrument Sans Bold" pitchFamily="34" charset="-122"/>
                <a:cs typeface="Instrument Sans Bold" pitchFamily="34" charset="-120"/>
              </a:rPr>
              <a:t>Interactivity:</a:t>
            </a:r>
            <a:endParaRPr lang="en-US" sz="1750" dirty="0"/>
          </a:p>
        </p:txBody>
      </p:sp>
      <p:sp>
        <p:nvSpPr>
          <p:cNvPr id="23" name="Text 17"/>
          <p:cNvSpPr/>
          <p:nvPr/>
        </p:nvSpPr>
        <p:spPr>
          <a:xfrm>
            <a:off x="6360557" y="5423098"/>
            <a:ext cx="4990181" cy="490141"/>
          </a:xfrm>
          <a:prstGeom prst="rect">
            <a:avLst/>
          </a:prstGeom>
          <a:noFill/>
          <a:ln/>
        </p:spPr>
        <p:txBody>
          <a:bodyPr wrap="square" lIns="0" tIns="0" rIns="0" bIns="0" rtlCol="0" anchor="t">
            <a:normAutofit/>
          </a:bodyPr>
          <a:lstStyle/>
          <a:p>
            <a:pPr algn="l" indent="0" marL="0">
              <a:lnSpc>
                <a:spcPct val="114000"/>
              </a:lnSpc>
              <a:buNone/>
            </a:pPr>
            <a:r>
              <a:rPr lang="en-US" sz="1400" dirty="0">
                <a:solidFill>
                  <a:srgbClr val="000000"/>
                </a:solidFill>
                <a:latin typeface="Instrument Sans" pitchFamily="34" charset="0"/>
                <a:ea typeface="Instrument Sans" pitchFamily="34" charset="-122"/>
                <a:cs typeface="Instrument Sans" pitchFamily="34" charset="-120"/>
              </a:rPr>
              <a:t>Dynamic filters and slicers allow stakeholders to drill down by time period, region, demographic, or product category.</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72505"/>
            <a:ext cx="10868745" cy="401638"/>
          </a:xfrm>
          <a:prstGeom prst="rect">
            <a:avLst/>
          </a:prstGeom>
          <a:noFill/>
          <a:ln/>
        </p:spPr>
        <p:txBody>
          <a:bodyPr wrap="none" lIns="0" tIns="0" rIns="0" bIns="0" rtlCol="0" anchor="t"/>
          <a:lstStyle/>
          <a:p>
            <a:pPr algn="l" indent="0" marL="0">
              <a:lnSpc>
                <a:spcPct val="83000"/>
              </a:lnSpc>
              <a:buNone/>
            </a:pPr>
            <a:r>
              <a:rPr lang="en-US" sz="3150" dirty="0">
                <a:solidFill>
                  <a:srgbClr val="FFFFFF"/>
                </a:solidFill>
                <a:latin typeface="Instrument Sans SemiBold" pitchFamily="34" charset="0"/>
                <a:ea typeface="Instrument Sans SemiBold" pitchFamily="34" charset="-122"/>
                <a:cs typeface="Instrument Sans SemiBold" pitchFamily="34" charset="-120"/>
              </a:rPr>
              <a:t>Key Insights &amp; Business Recommendations</a:t>
            </a:r>
            <a:endParaRPr lang="en-US" sz="3150" dirty="0"/>
          </a:p>
        </p:txBody>
      </p:sp>
      <p:sp>
        <p:nvSpPr>
          <p:cNvPr id="3" name="Text 1"/>
          <p:cNvSpPr/>
          <p:nvPr/>
        </p:nvSpPr>
        <p:spPr>
          <a:xfrm>
            <a:off x="661475" y="1347192"/>
            <a:ext cx="11478330" cy="207963"/>
          </a:xfrm>
          <a:prstGeom prst="rect">
            <a:avLst/>
          </a:prstGeom>
          <a:noFill/>
          <a:ln/>
        </p:spPr>
        <p:txBody>
          <a:bodyPr wrap="none" lIns="0" tIns="0" rIns="0" bIns="0" rtlCol="0" anchor="t"/>
          <a:lstStyle/>
          <a:p>
            <a:pPr algn="l" indent="0" marL="0">
              <a:lnSpc>
                <a:spcPct val="108000"/>
              </a:lnSpc>
              <a:buNone/>
            </a:pPr>
            <a:r>
              <a:rPr lang="en-US" sz="1250" dirty="0">
                <a:solidFill>
                  <a:srgbClr val="E5E0DF"/>
                </a:solidFill>
                <a:latin typeface="Instrument Sans" pitchFamily="34" charset="0"/>
                <a:ea typeface="Instrument Sans" pitchFamily="34" charset="-122"/>
                <a:cs typeface="Instrument Sans" pitchFamily="34" charset="-120"/>
              </a:rPr>
              <a:t>Data analysis surfaces clear patterns that directly inform where to focus marketing investment and product strategy.</a:t>
            </a:r>
            <a:endParaRPr lang="en-US" sz="1250" dirty="0"/>
          </a:p>
        </p:txBody>
      </p:sp>
      <p:sp>
        <p:nvSpPr>
          <p:cNvPr id="4" name="Text 2"/>
          <p:cNvSpPr/>
          <p:nvPr/>
        </p:nvSpPr>
        <p:spPr>
          <a:xfrm>
            <a:off x="661475" y="1845270"/>
            <a:ext cx="5238421" cy="200819"/>
          </a:xfrm>
          <a:prstGeom prst="rect">
            <a:avLst/>
          </a:prstGeom>
          <a:noFill/>
          <a:ln/>
        </p:spPr>
        <p:txBody>
          <a:bodyPr wrap="none" lIns="0" tIns="0" rIns="0" bIns="0" rtlCol="0" anchor="t"/>
          <a:lstStyle/>
          <a:p>
            <a:pPr algn="l" indent="0" marL="0">
              <a:lnSpc>
                <a:spcPct val="83000"/>
              </a:lnSpc>
              <a:buNone/>
            </a:pPr>
            <a:r>
              <a:rPr lang="en-US" sz="1550" dirty="0">
                <a:solidFill>
                  <a:srgbClr val="FFFFFF"/>
                </a:solidFill>
                <a:latin typeface="Instrument Sans SemiBold" pitchFamily="34" charset="0"/>
                <a:ea typeface="Instrument Sans SemiBold" pitchFamily="34" charset="-122"/>
                <a:cs typeface="Instrument Sans SemiBold" pitchFamily="34" charset="-120"/>
              </a:rPr>
              <a:t>Key Business Insights</a:t>
            </a:r>
            <a:endParaRPr lang="en-US" sz="15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1699" y="2179588"/>
            <a:ext cx="240996" cy="241002"/>
          </a:xfrm>
          <a:prstGeom prst="rect">
            <a:avLst/>
          </a:prstGeom>
        </p:spPr>
      </p:pic>
      <p:sp>
        <p:nvSpPr>
          <p:cNvPr id="6" name="Text 3"/>
          <p:cNvSpPr/>
          <p:nvPr/>
        </p:nvSpPr>
        <p:spPr>
          <a:xfrm>
            <a:off x="1183551" y="2199680"/>
            <a:ext cx="4716345" cy="200819"/>
          </a:xfrm>
          <a:prstGeom prst="rect">
            <a:avLst/>
          </a:prstGeom>
          <a:noFill/>
          <a:ln/>
        </p:spPr>
        <p:txBody>
          <a:bodyPr wrap="none" lIns="0" tIns="0" rIns="0" bIns="0" rtlCol="0" anchor="t"/>
          <a:lstStyle/>
          <a:p>
            <a:pPr algn="l" indent="0" marL="0">
              <a:lnSpc>
                <a:spcPct val="83000"/>
              </a:lnSpc>
              <a:buNone/>
            </a:pPr>
            <a:r>
              <a:rPr lang="en-US" sz="1550" dirty="0">
                <a:solidFill>
                  <a:srgbClr val="E5E0DF"/>
                </a:solidFill>
                <a:latin typeface="Instrument Sans SemiBold" pitchFamily="34" charset="0"/>
                <a:ea typeface="Instrument Sans SemiBold" pitchFamily="34" charset="-122"/>
                <a:cs typeface="Instrument Sans SemiBold" pitchFamily="34" charset="-120"/>
              </a:rPr>
              <a:t>25–40 Age Group</a:t>
            </a:r>
            <a:endParaRPr lang="en-US" sz="1550" dirty="0"/>
          </a:p>
        </p:txBody>
      </p:sp>
      <p:sp>
        <p:nvSpPr>
          <p:cNvPr id="7" name="Text 4"/>
          <p:cNvSpPr/>
          <p:nvPr/>
        </p:nvSpPr>
        <p:spPr>
          <a:xfrm>
            <a:off x="1183551" y="2537023"/>
            <a:ext cx="4716345" cy="415925"/>
          </a:xfrm>
          <a:prstGeom prst="rect">
            <a:avLst/>
          </a:prstGeom>
          <a:noFill/>
          <a:ln/>
        </p:spPr>
        <p:txBody>
          <a:bodyPr wrap="square" lIns="0" tIns="0" rIns="0" bIns="0" rtlCol="0" anchor="t">
            <a:normAutofit/>
          </a:bodyPr>
          <a:lstStyle/>
          <a:p>
            <a:pPr algn="l" indent="0" marL="0">
              <a:lnSpc>
                <a:spcPct val="108000"/>
              </a:lnSpc>
              <a:buNone/>
            </a:pPr>
            <a:r>
              <a:rPr lang="en-US" sz="1250" dirty="0">
                <a:solidFill>
                  <a:srgbClr val="E5E0DF"/>
                </a:solidFill>
                <a:latin typeface="Instrument Sans" pitchFamily="34" charset="0"/>
                <a:ea typeface="Instrument Sans" pitchFamily="34" charset="-122"/>
                <a:cs typeface="Instrument Sans" pitchFamily="34" charset="-120"/>
              </a:rPr>
              <a:t>Customers aged 25–40 contribute the highest sales — the single most valuable demographic segment.</a:t>
            </a:r>
            <a:endParaRPr lang="en-US" sz="12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1699" y="3205907"/>
            <a:ext cx="240996" cy="241002"/>
          </a:xfrm>
          <a:prstGeom prst="rect">
            <a:avLst/>
          </a:prstGeom>
        </p:spPr>
      </p:pic>
      <p:sp>
        <p:nvSpPr>
          <p:cNvPr id="9" name="Text 5"/>
          <p:cNvSpPr/>
          <p:nvPr/>
        </p:nvSpPr>
        <p:spPr>
          <a:xfrm>
            <a:off x="1183551" y="3225998"/>
            <a:ext cx="4716345" cy="200819"/>
          </a:xfrm>
          <a:prstGeom prst="rect">
            <a:avLst/>
          </a:prstGeom>
          <a:noFill/>
          <a:ln/>
        </p:spPr>
        <p:txBody>
          <a:bodyPr wrap="none" lIns="0" tIns="0" rIns="0" bIns="0" rtlCol="0" anchor="t"/>
          <a:lstStyle/>
          <a:p>
            <a:pPr algn="l" indent="0" marL="0">
              <a:lnSpc>
                <a:spcPct val="83000"/>
              </a:lnSpc>
              <a:buNone/>
            </a:pPr>
            <a:r>
              <a:rPr lang="en-US" sz="1550" dirty="0">
                <a:solidFill>
                  <a:srgbClr val="E5E0DF"/>
                </a:solidFill>
                <a:latin typeface="Instrument Sans SemiBold" pitchFamily="34" charset="0"/>
                <a:ea typeface="Instrument Sans SemiBold" pitchFamily="34" charset="-122"/>
                <a:cs typeface="Instrument Sans SemiBold" pitchFamily="34" charset="-120"/>
              </a:rPr>
              <a:t>Gender Spending Gap</a:t>
            </a:r>
            <a:endParaRPr lang="en-US" sz="1550" dirty="0"/>
          </a:p>
        </p:txBody>
      </p:sp>
      <p:sp>
        <p:nvSpPr>
          <p:cNvPr id="10" name="Text 6"/>
          <p:cNvSpPr/>
          <p:nvPr/>
        </p:nvSpPr>
        <p:spPr>
          <a:xfrm>
            <a:off x="1183551" y="3563342"/>
            <a:ext cx="4716345" cy="415925"/>
          </a:xfrm>
          <a:prstGeom prst="rect">
            <a:avLst/>
          </a:prstGeom>
          <a:noFill/>
          <a:ln/>
        </p:spPr>
        <p:txBody>
          <a:bodyPr wrap="square" lIns="0" tIns="0" rIns="0" bIns="0" rtlCol="0" anchor="t">
            <a:normAutofit/>
          </a:bodyPr>
          <a:lstStyle/>
          <a:p>
            <a:pPr algn="l" indent="0" marL="0">
              <a:lnSpc>
                <a:spcPct val="108000"/>
              </a:lnSpc>
              <a:buNone/>
            </a:pPr>
            <a:r>
              <a:rPr lang="en-US" sz="1250" dirty="0">
                <a:solidFill>
                  <a:srgbClr val="E5E0DF"/>
                </a:solidFill>
                <a:latin typeface="Instrument Sans" pitchFamily="34" charset="0"/>
                <a:ea typeface="Instrument Sans" pitchFamily="34" charset="-122"/>
                <a:cs typeface="Instrument Sans" pitchFamily="34" charset="-120"/>
              </a:rPr>
              <a:t>Female customers spend slightly more than male customers, informing channel and messaging decisions.</a:t>
            </a:r>
            <a:endParaRPr lang="en-US" sz="12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1699" y="4232225"/>
            <a:ext cx="240996" cy="241002"/>
          </a:xfrm>
          <a:prstGeom prst="rect">
            <a:avLst/>
          </a:prstGeom>
        </p:spPr>
      </p:pic>
      <p:sp>
        <p:nvSpPr>
          <p:cNvPr id="12" name="Text 7"/>
          <p:cNvSpPr/>
          <p:nvPr/>
        </p:nvSpPr>
        <p:spPr>
          <a:xfrm>
            <a:off x="1183551" y="4252317"/>
            <a:ext cx="4716345" cy="200819"/>
          </a:xfrm>
          <a:prstGeom prst="rect">
            <a:avLst/>
          </a:prstGeom>
          <a:noFill/>
          <a:ln/>
        </p:spPr>
        <p:txBody>
          <a:bodyPr wrap="none" lIns="0" tIns="0" rIns="0" bIns="0" rtlCol="0" anchor="t"/>
          <a:lstStyle/>
          <a:p>
            <a:pPr algn="l" indent="0" marL="0">
              <a:lnSpc>
                <a:spcPct val="83000"/>
              </a:lnSpc>
              <a:buNone/>
            </a:pPr>
            <a:r>
              <a:rPr lang="en-US" sz="1550" dirty="0">
                <a:solidFill>
                  <a:srgbClr val="E5E0DF"/>
                </a:solidFill>
                <a:latin typeface="Instrument Sans SemiBold" pitchFamily="34" charset="0"/>
                <a:ea typeface="Instrument Sans SemiBold" pitchFamily="34" charset="-122"/>
                <a:cs typeface="Instrument Sans SemiBold" pitchFamily="34" charset="-120"/>
              </a:rPr>
              <a:t>Top Categories</a:t>
            </a:r>
            <a:endParaRPr lang="en-US" sz="1550" dirty="0"/>
          </a:p>
        </p:txBody>
      </p:sp>
      <p:sp>
        <p:nvSpPr>
          <p:cNvPr id="13" name="Text 8"/>
          <p:cNvSpPr/>
          <p:nvPr/>
        </p:nvSpPr>
        <p:spPr>
          <a:xfrm>
            <a:off x="1183551" y="4589661"/>
            <a:ext cx="4716345" cy="415925"/>
          </a:xfrm>
          <a:prstGeom prst="rect">
            <a:avLst/>
          </a:prstGeom>
          <a:noFill/>
          <a:ln/>
        </p:spPr>
        <p:txBody>
          <a:bodyPr wrap="square" lIns="0" tIns="0" rIns="0" bIns="0" rtlCol="0" anchor="t">
            <a:normAutofit/>
          </a:bodyPr>
          <a:lstStyle/>
          <a:p>
            <a:pPr algn="l" indent="0" marL="0">
              <a:lnSpc>
                <a:spcPct val="108000"/>
              </a:lnSpc>
              <a:buNone/>
            </a:pPr>
            <a:r>
              <a:rPr lang="en-US" sz="1250" dirty="0">
                <a:solidFill>
                  <a:srgbClr val="E5E0DF"/>
                </a:solidFill>
                <a:latin typeface="Instrument Sans" pitchFamily="34" charset="0"/>
                <a:ea typeface="Instrument Sans" pitchFamily="34" charset="-122"/>
                <a:cs typeface="Instrument Sans" pitchFamily="34" charset="-120"/>
              </a:rPr>
              <a:t>Clothing and Electronics are the most popular product categories by purchase volume and revenue.</a:t>
            </a:r>
            <a:endParaRPr lang="en-US" sz="125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1699" y="5258544"/>
            <a:ext cx="240996" cy="241002"/>
          </a:xfrm>
          <a:prstGeom prst="rect">
            <a:avLst/>
          </a:prstGeom>
        </p:spPr>
      </p:pic>
      <p:sp>
        <p:nvSpPr>
          <p:cNvPr id="15" name="Text 9"/>
          <p:cNvSpPr/>
          <p:nvPr/>
        </p:nvSpPr>
        <p:spPr>
          <a:xfrm>
            <a:off x="1183551" y="5278636"/>
            <a:ext cx="4716345" cy="200819"/>
          </a:xfrm>
          <a:prstGeom prst="rect">
            <a:avLst/>
          </a:prstGeom>
          <a:noFill/>
          <a:ln/>
        </p:spPr>
        <p:txBody>
          <a:bodyPr wrap="none" lIns="0" tIns="0" rIns="0" bIns="0" rtlCol="0" anchor="t"/>
          <a:lstStyle/>
          <a:p>
            <a:pPr algn="l" indent="0" marL="0">
              <a:lnSpc>
                <a:spcPct val="83000"/>
              </a:lnSpc>
              <a:buNone/>
            </a:pPr>
            <a:r>
              <a:rPr lang="en-US" sz="1550" dirty="0">
                <a:solidFill>
                  <a:srgbClr val="E5E0DF"/>
                </a:solidFill>
                <a:latin typeface="Instrument Sans SemiBold" pitchFamily="34" charset="0"/>
                <a:ea typeface="Instrument Sans SemiBold" pitchFamily="34" charset="-122"/>
                <a:cs typeface="Instrument Sans SemiBold" pitchFamily="34" charset="-120"/>
              </a:rPr>
              <a:t>Weekend &amp; Repeat Effect</a:t>
            </a:r>
            <a:endParaRPr lang="en-US" sz="1550" dirty="0"/>
          </a:p>
        </p:txBody>
      </p:sp>
      <p:sp>
        <p:nvSpPr>
          <p:cNvPr id="16" name="Text 10"/>
          <p:cNvSpPr/>
          <p:nvPr/>
        </p:nvSpPr>
        <p:spPr>
          <a:xfrm>
            <a:off x="1183551" y="5615980"/>
            <a:ext cx="4716345" cy="415925"/>
          </a:xfrm>
          <a:prstGeom prst="rect">
            <a:avLst/>
          </a:prstGeom>
          <a:noFill/>
          <a:ln/>
        </p:spPr>
        <p:txBody>
          <a:bodyPr wrap="square" lIns="0" tIns="0" rIns="0" bIns="0" rtlCol="0" anchor="t">
            <a:normAutofit/>
          </a:bodyPr>
          <a:lstStyle/>
          <a:p>
            <a:pPr algn="l" indent="0" marL="0">
              <a:lnSpc>
                <a:spcPct val="108000"/>
              </a:lnSpc>
              <a:buNone/>
            </a:pPr>
            <a:r>
              <a:rPr lang="en-US" sz="1250" dirty="0">
                <a:solidFill>
                  <a:srgbClr val="E5E0DF"/>
                </a:solidFill>
                <a:latin typeface="Instrument Sans" pitchFamily="34" charset="0"/>
                <a:ea typeface="Instrument Sans" pitchFamily="34" charset="-122"/>
                <a:cs typeface="Instrument Sans" pitchFamily="34" charset="-120"/>
              </a:rPr>
              <a:t>Weekend shopping generates higher revenue and repeat customers contribute significantly to overall sales.</a:t>
            </a:r>
            <a:endParaRPr lang="en-US" sz="1250" dirty="0"/>
          </a:p>
        </p:txBody>
      </p:sp>
      <p:sp>
        <p:nvSpPr>
          <p:cNvPr id="17" name="Text 11"/>
          <p:cNvSpPr/>
          <p:nvPr/>
        </p:nvSpPr>
        <p:spPr>
          <a:xfrm>
            <a:off x="6298149" y="1845270"/>
            <a:ext cx="5238421" cy="200819"/>
          </a:xfrm>
          <a:prstGeom prst="rect">
            <a:avLst/>
          </a:prstGeom>
          <a:noFill/>
          <a:ln/>
        </p:spPr>
        <p:txBody>
          <a:bodyPr wrap="none" lIns="0" tIns="0" rIns="0" bIns="0" rtlCol="0" anchor="t"/>
          <a:lstStyle/>
          <a:p>
            <a:pPr algn="l" indent="0" marL="0">
              <a:lnSpc>
                <a:spcPct val="83000"/>
              </a:lnSpc>
              <a:buNone/>
            </a:pPr>
            <a:r>
              <a:rPr lang="en-US" sz="1550" dirty="0">
                <a:solidFill>
                  <a:srgbClr val="FFFFFF"/>
                </a:solidFill>
                <a:latin typeface="Instrument Sans SemiBold" pitchFamily="34" charset="0"/>
                <a:ea typeface="Instrument Sans SemiBold" pitchFamily="34" charset="-122"/>
                <a:cs typeface="Instrument Sans SemiBold" pitchFamily="34" charset="-120"/>
              </a:rPr>
              <a:t>Recommendations</a:t>
            </a:r>
            <a:endParaRPr lang="en-US" sz="1550" dirty="0"/>
          </a:p>
        </p:txBody>
      </p:sp>
      <p:pic>
        <p:nvPicPr>
          <p:cNvPr id="1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58374" y="2179588"/>
            <a:ext cx="240996" cy="241002"/>
          </a:xfrm>
          <a:prstGeom prst="rect">
            <a:avLst/>
          </a:prstGeom>
        </p:spPr>
      </p:pic>
      <p:sp>
        <p:nvSpPr>
          <p:cNvPr id="19" name="Text 12"/>
          <p:cNvSpPr/>
          <p:nvPr/>
        </p:nvSpPr>
        <p:spPr>
          <a:xfrm>
            <a:off x="6820225" y="2199680"/>
            <a:ext cx="4716345" cy="200819"/>
          </a:xfrm>
          <a:prstGeom prst="rect">
            <a:avLst/>
          </a:prstGeom>
          <a:noFill/>
          <a:ln/>
        </p:spPr>
        <p:txBody>
          <a:bodyPr wrap="none" lIns="0" tIns="0" rIns="0" bIns="0" rtlCol="0" anchor="t"/>
          <a:lstStyle/>
          <a:p>
            <a:pPr algn="l" indent="0" marL="0">
              <a:lnSpc>
                <a:spcPct val="83000"/>
              </a:lnSpc>
              <a:buNone/>
            </a:pPr>
            <a:r>
              <a:rPr lang="en-US" sz="1550" dirty="0">
                <a:solidFill>
                  <a:srgbClr val="E5E0DF"/>
                </a:solidFill>
                <a:latin typeface="Instrument Sans SemiBold" pitchFamily="34" charset="0"/>
                <a:ea typeface="Instrument Sans SemiBold" pitchFamily="34" charset="-122"/>
                <a:cs typeface="Instrument Sans SemiBold" pitchFamily="34" charset="-120"/>
              </a:rPr>
              <a:t>Personalized Promotions</a:t>
            </a:r>
            <a:endParaRPr lang="en-US" sz="1550" dirty="0"/>
          </a:p>
        </p:txBody>
      </p:sp>
      <p:sp>
        <p:nvSpPr>
          <p:cNvPr id="20" name="Text 13"/>
          <p:cNvSpPr/>
          <p:nvPr/>
        </p:nvSpPr>
        <p:spPr>
          <a:xfrm>
            <a:off x="6820225" y="2537023"/>
            <a:ext cx="4716345" cy="415925"/>
          </a:xfrm>
          <a:prstGeom prst="rect">
            <a:avLst/>
          </a:prstGeom>
          <a:noFill/>
          <a:ln/>
        </p:spPr>
        <p:txBody>
          <a:bodyPr wrap="square" lIns="0" tIns="0" rIns="0" bIns="0" rtlCol="0" anchor="t">
            <a:normAutofit/>
          </a:bodyPr>
          <a:lstStyle/>
          <a:p>
            <a:pPr algn="l" indent="0" marL="0">
              <a:lnSpc>
                <a:spcPct val="108000"/>
              </a:lnSpc>
              <a:buNone/>
            </a:pPr>
            <a:r>
              <a:rPr lang="en-US" sz="1250" dirty="0">
                <a:solidFill>
                  <a:srgbClr val="E5E0DF"/>
                </a:solidFill>
                <a:latin typeface="Instrument Sans" pitchFamily="34" charset="0"/>
                <a:ea typeface="Instrument Sans" pitchFamily="34" charset="-122"/>
                <a:cs typeface="Instrument Sans" pitchFamily="34" charset="-120"/>
              </a:rPr>
              <a:t>Target customers between 25–40 years with personalized offers based on purchase history and category affinity.</a:t>
            </a:r>
            <a:endParaRPr lang="en-US" sz="1250" dirty="0"/>
          </a:p>
        </p:txBody>
      </p:sp>
      <p:pic>
        <p:nvPicPr>
          <p:cNvPr id="21"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58374" y="3205907"/>
            <a:ext cx="240996" cy="241002"/>
          </a:xfrm>
          <a:prstGeom prst="rect">
            <a:avLst/>
          </a:prstGeom>
        </p:spPr>
      </p:pic>
      <p:sp>
        <p:nvSpPr>
          <p:cNvPr id="22" name="Text 14"/>
          <p:cNvSpPr/>
          <p:nvPr/>
        </p:nvSpPr>
        <p:spPr>
          <a:xfrm>
            <a:off x="6820225" y="3225998"/>
            <a:ext cx="4716345" cy="200819"/>
          </a:xfrm>
          <a:prstGeom prst="rect">
            <a:avLst/>
          </a:prstGeom>
          <a:noFill/>
          <a:ln/>
        </p:spPr>
        <p:txBody>
          <a:bodyPr wrap="none" lIns="0" tIns="0" rIns="0" bIns="0" rtlCol="0" anchor="t"/>
          <a:lstStyle/>
          <a:p>
            <a:pPr algn="l" indent="0" marL="0">
              <a:lnSpc>
                <a:spcPct val="83000"/>
              </a:lnSpc>
              <a:buNone/>
            </a:pPr>
            <a:r>
              <a:rPr lang="en-US" sz="1550" dirty="0">
                <a:solidFill>
                  <a:srgbClr val="E5E0DF"/>
                </a:solidFill>
                <a:latin typeface="Instrument Sans SemiBold" pitchFamily="34" charset="0"/>
                <a:ea typeface="Instrument Sans SemiBold" pitchFamily="34" charset="-122"/>
                <a:cs typeface="Instrument Sans SemiBold" pitchFamily="34" charset="-120"/>
              </a:rPr>
              <a:t>Category Discounts</a:t>
            </a:r>
            <a:endParaRPr lang="en-US" sz="1550" dirty="0"/>
          </a:p>
        </p:txBody>
      </p:sp>
      <p:sp>
        <p:nvSpPr>
          <p:cNvPr id="23" name="Text 15"/>
          <p:cNvSpPr/>
          <p:nvPr/>
        </p:nvSpPr>
        <p:spPr>
          <a:xfrm>
            <a:off x="6820225" y="3563342"/>
            <a:ext cx="4716345" cy="415925"/>
          </a:xfrm>
          <a:prstGeom prst="rect">
            <a:avLst/>
          </a:prstGeom>
          <a:noFill/>
          <a:ln/>
        </p:spPr>
        <p:txBody>
          <a:bodyPr wrap="square" lIns="0" tIns="0" rIns="0" bIns="0" rtlCol="0" anchor="t">
            <a:normAutofit/>
          </a:bodyPr>
          <a:lstStyle/>
          <a:p>
            <a:pPr algn="l" indent="0" marL="0">
              <a:lnSpc>
                <a:spcPct val="108000"/>
              </a:lnSpc>
              <a:buNone/>
            </a:pPr>
            <a:r>
              <a:rPr lang="en-US" sz="1250" dirty="0">
                <a:solidFill>
                  <a:srgbClr val="E5E0DF"/>
                </a:solidFill>
                <a:latin typeface="Instrument Sans" pitchFamily="34" charset="0"/>
                <a:ea typeface="Instrument Sans" pitchFamily="34" charset="-122"/>
                <a:cs typeface="Instrument Sans" pitchFamily="34" charset="-120"/>
              </a:rPr>
              <a:t>Offer strategic discounts on Clothing and Electronics to drive volume in the highest-demand segments.</a:t>
            </a:r>
            <a:endParaRPr lang="en-US" sz="1250" dirty="0"/>
          </a:p>
        </p:txBody>
      </p:sp>
      <p:pic>
        <p:nvPicPr>
          <p:cNvPr id="24"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58374" y="4232225"/>
            <a:ext cx="240996" cy="241002"/>
          </a:xfrm>
          <a:prstGeom prst="rect">
            <a:avLst/>
          </a:prstGeom>
        </p:spPr>
      </p:pic>
      <p:sp>
        <p:nvSpPr>
          <p:cNvPr id="25" name="Text 16"/>
          <p:cNvSpPr/>
          <p:nvPr/>
        </p:nvSpPr>
        <p:spPr>
          <a:xfrm>
            <a:off x="6820225" y="4252317"/>
            <a:ext cx="4716345" cy="200819"/>
          </a:xfrm>
          <a:prstGeom prst="rect">
            <a:avLst/>
          </a:prstGeom>
          <a:noFill/>
          <a:ln/>
        </p:spPr>
        <p:txBody>
          <a:bodyPr wrap="none" lIns="0" tIns="0" rIns="0" bIns="0" rtlCol="0" anchor="t"/>
          <a:lstStyle/>
          <a:p>
            <a:pPr algn="l" indent="0" marL="0">
              <a:lnSpc>
                <a:spcPct val="83000"/>
              </a:lnSpc>
              <a:buNone/>
            </a:pPr>
            <a:r>
              <a:rPr lang="en-US" sz="1550" dirty="0">
                <a:solidFill>
                  <a:srgbClr val="E5E0DF"/>
                </a:solidFill>
                <a:latin typeface="Instrument Sans SemiBold" pitchFamily="34" charset="0"/>
                <a:ea typeface="Instrument Sans SemiBold" pitchFamily="34" charset="-122"/>
                <a:cs typeface="Instrument Sans SemiBold" pitchFamily="34" charset="-120"/>
              </a:rPr>
              <a:t>Digital Payments &amp; Loyalty</a:t>
            </a:r>
            <a:endParaRPr lang="en-US" sz="1550" dirty="0"/>
          </a:p>
        </p:txBody>
      </p:sp>
      <p:sp>
        <p:nvSpPr>
          <p:cNvPr id="26" name="Text 17"/>
          <p:cNvSpPr/>
          <p:nvPr/>
        </p:nvSpPr>
        <p:spPr>
          <a:xfrm>
            <a:off x="6820225" y="4589661"/>
            <a:ext cx="4716345" cy="415925"/>
          </a:xfrm>
          <a:prstGeom prst="rect">
            <a:avLst/>
          </a:prstGeom>
          <a:noFill/>
          <a:ln/>
        </p:spPr>
        <p:txBody>
          <a:bodyPr wrap="square" lIns="0" tIns="0" rIns="0" bIns="0" rtlCol="0" anchor="t">
            <a:normAutofit/>
          </a:bodyPr>
          <a:lstStyle/>
          <a:p>
            <a:pPr algn="l" indent="0" marL="0">
              <a:lnSpc>
                <a:spcPct val="108000"/>
              </a:lnSpc>
              <a:buNone/>
            </a:pPr>
            <a:r>
              <a:rPr lang="en-US" sz="1250" dirty="0">
                <a:solidFill>
                  <a:srgbClr val="E5E0DF"/>
                </a:solidFill>
                <a:latin typeface="Instrument Sans" pitchFamily="34" charset="0"/>
                <a:ea typeface="Instrument Sans" pitchFamily="34" charset="-122"/>
                <a:cs typeface="Instrument Sans" pitchFamily="34" charset="-120"/>
              </a:rPr>
              <a:t>Strengthen Credit Card and UPI infrastructure, and launch loyalty programs to reward repeat customers.</a:t>
            </a:r>
            <a:endParaRPr lang="en-US" sz="1250" dirty="0"/>
          </a:p>
        </p:txBody>
      </p:sp>
      <p:pic>
        <p:nvPicPr>
          <p:cNvPr id="27"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58374" y="5258544"/>
            <a:ext cx="240996" cy="241002"/>
          </a:xfrm>
          <a:prstGeom prst="rect">
            <a:avLst/>
          </a:prstGeom>
        </p:spPr>
      </p:pic>
      <p:sp>
        <p:nvSpPr>
          <p:cNvPr id="28" name="Text 18"/>
          <p:cNvSpPr/>
          <p:nvPr/>
        </p:nvSpPr>
        <p:spPr>
          <a:xfrm>
            <a:off x="6820225" y="5278636"/>
            <a:ext cx="4716345" cy="200819"/>
          </a:xfrm>
          <a:prstGeom prst="rect">
            <a:avLst/>
          </a:prstGeom>
          <a:noFill/>
          <a:ln/>
        </p:spPr>
        <p:txBody>
          <a:bodyPr wrap="none" lIns="0" tIns="0" rIns="0" bIns="0" rtlCol="0" anchor="t"/>
          <a:lstStyle/>
          <a:p>
            <a:pPr algn="l" indent="0" marL="0">
              <a:lnSpc>
                <a:spcPct val="83000"/>
              </a:lnSpc>
              <a:buNone/>
            </a:pPr>
            <a:r>
              <a:rPr lang="en-US" sz="1550" dirty="0">
                <a:solidFill>
                  <a:srgbClr val="E5E0DF"/>
                </a:solidFill>
                <a:latin typeface="Instrument Sans SemiBold" pitchFamily="34" charset="0"/>
                <a:ea typeface="Instrument Sans SemiBold" pitchFamily="34" charset="-122"/>
                <a:cs typeface="Instrument Sans SemiBold" pitchFamily="34" charset="-120"/>
              </a:rPr>
              <a:t>Segmented Marketing</a:t>
            </a:r>
            <a:endParaRPr lang="en-US" sz="1550" dirty="0"/>
          </a:p>
        </p:txBody>
      </p:sp>
      <p:sp>
        <p:nvSpPr>
          <p:cNvPr id="29" name="Text 19"/>
          <p:cNvSpPr/>
          <p:nvPr/>
        </p:nvSpPr>
        <p:spPr>
          <a:xfrm>
            <a:off x="6820225" y="5615980"/>
            <a:ext cx="4716345" cy="415925"/>
          </a:xfrm>
          <a:prstGeom prst="rect">
            <a:avLst/>
          </a:prstGeom>
          <a:noFill/>
          <a:ln/>
        </p:spPr>
        <p:txBody>
          <a:bodyPr wrap="square" lIns="0" tIns="0" rIns="0" bIns="0" rtlCol="0" anchor="t">
            <a:normAutofit/>
          </a:bodyPr>
          <a:lstStyle/>
          <a:p>
            <a:pPr algn="l" indent="0" marL="0">
              <a:lnSpc>
                <a:spcPct val="108000"/>
              </a:lnSpc>
              <a:buNone/>
            </a:pPr>
            <a:r>
              <a:rPr lang="en-US" sz="1250" dirty="0">
                <a:solidFill>
                  <a:srgbClr val="E5E0DF"/>
                </a:solidFill>
                <a:latin typeface="Instrument Sans" pitchFamily="34" charset="0"/>
                <a:ea typeface="Instrument Sans" pitchFamily="34" charset="-122"/>
                <a:cs typeface="Instrument Sans" pitchFamily="34" charset="-120"/>
              </a:rPr>
              <a:t>Use customer segmentation models to deliver targeted campaigns that resonate with each distinct buyer group.</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Shape 0"/>
          <p:cNvSpPr/>
          <p:nvPr/>
        </p:nvSpPr>
        <p:spPr>
          <a:xfrm>
            <a:off x="5233360" y="1789807"/>
            <a:ext cx="1225817" cy="287139"/>
          </a:xfrm>
          <a:prstGeom prst="roundRect">
            <a:avLst>
              <a:gd name="adj" fmla="val 22118"/>
            </a:avLst>
          </a:prstGeom>
          <a:solidFill>
            <a:srgbClr val="333A33"/>
          </a:solidFill>
          <a:ln/>
        </p:spPr>
      </p:sp>
      <p:sp>
        <p:nvSpPr>
          <p:cNvPr id="4" name="Text 1"/>
          <p:cNvSpPr/>
          <p:nvPr/>
        </p:nvSpPr>
        <p:spPr>
          <a:xfrm>
            <a:off x="5346765" y="1846461"/>
            <a:ext cx="1608593" cy="173831"/>
          </a:xfrm>
          <a:prstGeom prst="rect">
            <a:avLst/>
          </a:prstGeom>
          <a:noFill/>
          <a:ln/>
        </p:spPr>
        <p:txBody>
          <a:bodyPr wrap="none" lIns="0" tIns="0" rIns="0" bIns="0" rtlCol="0" anchor="t"/>
          <a:lstStyle/>
          <a:p>
            <a:pPr algn="l" indent="0" marL="0">
              <a:lnSpc>
                <a:spcPct val="96000"/>
              </a:lnSpc>
              <a:buNone/>
            </a:pPr>
            <a:r>
              <a:rPr lang="en-US" sz="1150" dirty="0">
                <a:solidFill>
                  <a:srgbClr val="FFFFFF"/>
                </a:solidFill>
                <a:latin typeface="Instrument Sans" pitchFamily="34" charset="0"/>
                <a:ea typeface="Instrument Sans" pitchFamily="34" charset="-122"/>
                <a:cs typeface="Instrument Sans" pitchFamily="34" charset="-120"/>
              </a:rPr>
              <a:t>CONCLUSION</a:t>
            </a:r>
            <a:endParaRPr lang="en-US" sz="1150" dirty="0"/>
          </a:p>
        </p:txBody>
      </p:sp>
      <p:sp>
        <p:nvSpPr>
          <p:cNvPr id="5" name="Text 2"/>
          <p:cNvSpPr/>
          <p:nvPr/>
        </p:nvSpPr>
        <p:spPr>
          <a:xfrm>
            <a:off x="5233360" y="2152551"/>
            <a:ext cx="6296860" cy="472579"/>
          </a:xfrm>
          <a:prstGeom prst="rect">
            <a:avLst/>
          </a:prstGeom>
          <a:noFill/>
          <a:ln/>
        </p:spPr>
        <p:txBody>
          <a:bodyPr wrap="none" lIns="0" tIns="0" rIns="0" bIns="0" rtlCol="0" anchor="t"/>
          <a:lstStyle/>
          <a:p>
            <a:pPr algn="l" indent="0" marL="0">
              <a:lnSpc>
                <a:spcPct val="83000"/>
              </a:lnSpc>
              <a:buNone/>
            </a:pPr>
            <a:r>
              <a:rPr lang="en-US" sz="3700" dirty="0">
                <a:solidFill>
                  <a:srgbClr val="FFFFFF"/>
                </a:solidFill>
                <a:latin typeface="Instrument Sans SemiBold" pitchFamily="34" charset="0"/>
                <a:ea typeface="Instrument Sans SemiBold" pitchFamily="34" charset="-122"/>
                <a:cs typeface="Instrument Sans SemiBold" pitchFamily="34" charset="-120"/>
              </a:rPr>
              <a:t>Thank You</a:t>
            </a:r>
            <a:endParaRPr lang="en-US" sz="3700" dirty="0"/>
          </a:p>
        </p:txBody>
      </p:sp>
      <p:sp>
        <p:nvSpPr>
          <p:cNvPr id="6" name="Text 3"/>
          <p:cNvSpPr/>
          <p:nvPr/>
        </p:nvSpPr>
        <p:spPr>
          <a:xfrm>
            <a:off x="5233360" y="2700734"/>
            <a:ext cx="6296860" cy="283567"/>
          </a:xfrm>
          <a:prstGeom prst="rect">
            <a:avLst/>
          </a:prstGeom>
          <a:noFill/>
          <a:ln/>
        </p:spPr>
        <p:txBody>
          <a:bodyPr wrap="none" lIns="0" tIns="0" rIns="0" bIns="0" rtlCol="0" anchor="t"/>
          <a:lstStyle/>
          <a:p>
            <a:pPr algn="l" indent="0" marL="0">
              <a:lnSpc>
                <a:spcPct val="83000"/>
              </a:lnSpc>
              <a:buNone/>
            </a:pPr>
            <a:r>
              <a:rPr lang="en-US" sz="2200" dirty="0">
                <a:solidFill>
                  <a:srgbClr val="FFFFFF"/>
                </a:solidFill>
                <a:latin typeface="Instrument Sans SemiBold" pitchFamily="34" charset="0"/>
                <a:ea typeface="Instrument Sans SemiBold" pitchFamily="34" charset="-122"/>
                <a:cs typeface="Instrument Sans SemiBold" pitchFamily="34" charset="-120"/>
              </a:rPr>
              <a:t>Questions &amp; Discussion</a:t>
            </a:r>
            <a:endParaRPr lang="en-US" sz="2200" dirty="0"/>
          </a:p>
        </p:txBody>
      </p:sp>
      <p:sp>
        <p:nvSpPr>
          <p:cNvPr id="7" name="Text 4"/>
          <p:cNvSpPr/>
          <p:nvPr/>
        </p:nvSpPr>
        <p:spPr>
          <a:xfrm>
            <a:off x="5233360" y="3267770"/>
            <a:ext cx="6296860" cy="1800324"/>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E5E0DF"/>
                </a:solidFill>
                <a:latin typeface="Instrument Sans" pitchFamily="34" charset="0"/>
                <a:ea typeface="Instrument Sans" pitchFamily="34" charset="-122"/>
                <a:cs typeface="Instrument Sans" pitchFamily="34" charset="-120"/>
              </a:rPr>
              <a:t>This project demonstrates how data analytics can transform raw customer transaction data into meaningful business insights. Using </a:t>
            </a:r>
            <a:pPr algn="l" indent="0" marL="0">
              <a:lnSpc>
                <a:spcPct val="117000"/>
              </a:lnSpc>
              <a:buNone/>
            </a:pPr>
            <a:r>
              <a:rPr lang="en-US" sz="1450" b="1" dirty="0">
                <a:solidFill>
                  <a:srgbClr val="E5E0DF"/>
                </a:solidFill>
                <a:latin typeface="Instrument Sans Bold" pitchFamily="34" charset="0"/>
                <a:ea typeface="Instrument Sans Bold" pitchFamily="34" charset="-122"/>
                <a:cs typeface="Instrument Sans Bold" pitchFamily="34" charset="-120"/>
              </a:rPr>
              <a:t>Python</a:t>
            </a:r>
            <a:pPr algn="l" indent="0" marL="0">
              <a:lnSpc>
                <a:spcPct val="117000"/>
              </a:lnSpc>
              <a:buNone/>
            </a:pPr>
            <a:r>
              <a:rPr lang="en-US" sz="1450" dirty="0">
                <a:solidFill>
                  <a:srgbClr val="E5E0DF"/>
                </a:solidFill>
                <a:latin typeface="Instrument Sans" pitchFamily="34" charset="0"/>
                <a:ea typeface="Instrument Sans" pitchFamily="34" charset="-122"/>
                <a:cs typeface="Instrument Sans" pitchFamily="34" charset="-120"/>
              </a:rPr>
              <a:t>, </a:t>
            </a:r>
            <a:pPr algn="l" indent="0" marL="0">
              <a:lnSpc>
                <a:spcPct val="117000"/>
              </a:lnSpc>
              <a:buNone/>
            </a:pPr>
            <a:r>
              <a:rPr lang="en-US" sz="1450" b="1" dirty="0">
                <a:solidFill>
                  <a:srgbClr val="E5E0DF"/>
                </a:solidFill>
                <a:latin typeface="Instrument Sans Bold" pitchFamily="34" charset="0"/>
                <a:ea typeface="Instrument Sans Bold" pitchFamily="34" charset="-122"/>
                <a:cs typeface="Instrument Sans Bold" pitchFamily="34" charset="-120"/>
              </a:rPr>
              <a:t>SQL</a:t>
            </a:r>
            <a:pPr algn="l" indent="0" marL="0">
              <a:lnSpc>
                <a:spcPct val="117000"/>
              </a:lnSpc>
              <a:buNone/>
            </a:pPr>
            <a:r>
              <a:rPr lang="en-US" sz="1450" dirty="0">
                <a:solidFill>
                  <a:srgbClr val="E5E0DF"/>
                </a:solidFill>
                <a:latin typeface="Instrument Sans" pitchFamily="34" charset="0"/>
                <a:ea typeface="Instrument Sans" pitchFamily="34" charset="-122"/>
                <a:cs typeface="Instrument Sans" pitchFamily="34" charset="-120"/>
              </a:rPr>
              <a:t>, and </a:t>
            </a:r>
            <a:pPr algn="l" indent="0" marL="0">
              <a:lnSpc>
                <a:spcPct val="117000"/>
              </a:lnSpc>
              <a:buNone/>
            </a:pPr>
            <a:r>
              <a:rPr lang="en-US" sz="1450" b="1" dirty="0">
                <a:solidFill>
                  <a:srgbClr val="E5E0DF"/>
                </a:solidFill>
                <a:latin typeface="Instrument Sans Bold" pitchFamily="34" charset="0"/>
                <a:ea typeface="Instrument Sans Bold" pitchFamily="34" charset="-122"/>
                <a:cs typeface="Instrument Sans Bold" pitchFamily="34" charset="-120"/>
              </a:rPr>
              <a:t>Power BI</a:t>
            </a:r>
            <a:pPr algn="l" indent="0" marL="0">
              <a:lnSpc>
                <a:spcPct val="117000"/>
              </a:lnSpc>
              <a:spcAft>
                <a:spcPts val="1650"/>
              </a:spcAft>
              <a:buNone/>
            </a:pPr>
            <a:r>
              <a:rPr lang="en-US" sz="1450" dirty="0">
                <a:solidFill>
                  <a:srgbClr val="E5E0DF"/>
                </a:solidFill>
                <a:latin typeface="Instrument Sans" pitchFamily="34" charset="0"/>
                <a:ea typeface="Instrument Sans" pitchFamily="34" charset="-122"/>
                <a:cs typeface="Instrument Sans" pitchFamily="34" charset="-120"/>
              </a:rPr>
              <a:t>, businesses can better understand customer preferences, optimize inventory, improve marketing strategies, and enhance customer satisfaction.</a:t>
            </a:r>
            <a:endParaRPr lang="en-US" sz="1450" dirty="0"/>
          </a:p>
          <a:p>
            <a:pPr algn="l" indent="0" marL="0">
              <a:lnSpc>
                <a:spcPct val="117000"/>
              </a:lnSpc>
              <a:buNone/>
            </a:pPr>
            <a:r>
              <a:rPr lang="en-US" sz="1450" b="1" dirty="0">
                <a:solidFill>
                  <a:srgbClr val="E5E0DF"/>
                </a:solidFill>
                <a:latin typeface="Instrument Sans Bold" pitchFamily="34" charset="0"/>
                <a:ea typeface="Instrument Sans Bold" pitchFamily="34" charset="-122"/>
                <a:cs typeface="Instrument Sans Bold" pitchFamily="34" charset="-120"/>
              </a:rPr>
              <a:t>Prepared By:</a:t>
            </a:r>
            <a:pPr algn="l" indent="0" marL="0">
              <a:lnSpc>
                <a:spcPct val="117000"/>
              </a:lnSpc>
              <a:buNone/>
            </a:pPr>
            <a:r>
              <a:rPr lang="en-US" sz="1450" dirty="0">
                <a:solidFill>
                  <a:srgbClr val="E5E0DF"/>
                </a:solidFill>
                <a:latin typeface="Instrument Sans" pitchFamily="34" charset="0"/>
                <a:ea typeface="Instrument Sans" pitchFamily="34" charset="-122"/>
                <a:cs typeface="Instrument Sans" pitchFamily="34" charset="-120"/>
              </a:rPr>
              <a:t> Abhijit Roy</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2026-07-11T10:13:44Z</dcterms:created>
  <dcterms:modified xsi:type="dcterms:W3CDTF">2026-07-11T10:13:44Z</dcterms:modified>
</cp:coreProperties>
</file>